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Nous allons vous présenter SmartQueue, notre projet intégré 2BIS.
SmartQueue est une application web de gestion de file d'attente en ligne, développée dans le cadre du module Programmation Web 2.
Ce projet répond à un besoin social concret : réduire le temps d'attente dans les administrations publiques, en conformité avec l'Objectif de Développement Durable numéro 11 sur les villes durables.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présentation s'articule en 6 parties :
D'abord le contexte et la problématique, puis l'architecture technique de notre solution.
Ensuite nous présenterons la base de données, les fonctionnalités par acteur, les enrichissements JavaScript/Bootstrap, et enfin une démonstration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est universelle : les files d'attente dans les administrations publiques sont chronophages et frustrantes pour les citoyens.
SmartQueue propose une solution numérique : le citoyen prend son ticket depuis chez lui, suit sa position en temps réel, et reçoit une notification lorsque c'est son tour.
Ce projet s'inscrit dans l'ODD numéro 11 des Nations Unies sur les villes et communautés durables, en réduisant les déplacements inutiles et l'empreinte carbone associée.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suit le patron MVC simplifié imposé par le projet : pas de framework, uniquement PHP natif.
Le Modèle correspond aux requêtes SQL via PDO. Le Contrôleur est géré par les scripts PHP qui traitent les données. La Vue est produite par les templates HTML avec Bootstrap 5.
Côté sécurité : les mots de passe sont hashés avec bcrypt, toutes les requêtes sont préparées, et chaque page protégée vérifie le rôle de l'utilisateur en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de données comporte 6 tables. Elle respecte toutes les exigences du projet :
Une relation 1-N entre services et tickets, une relation N-N porteuse de données représentée par la table tickets qui lie un citoyen à un service et porte des attributs comme le statut, la priorité et les horodatages.
La table evaluations est en relation 1-1 avec tickets via une contrainte UNIQUE. Les notifications sont liées à un utilisateur.
Toutes les requêtes sont exécutées via des instructions préparées PDO, ce qui garantit la sécurité contre les injections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application distingue quatre niveaux d'accès.
Le visiteur non connecté accède à la page d'accueil publique et peut voir les services disponibles et les temps d'attente.
Le citoyen peut créer un compte, prendre un ticket, suivre sa position dans la file en temps réel, et évaluer le service après traitement.
L'agent de guichet gère sa file, appelle les tickets, et change les statuts jusqu'à terminé ou no-show.
L'administrateur dispose d'un tableau de bord complet : gestion de toutes les entités, statistiques graphiques, et vue globale sur tous les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smartqueue.js regroupe 15 fonctions JavaScript organisées dans un objet global SQ.
Toutes utilisent exclusivement Bootstrap 5 et les APIs natives du navigateur, sans librairie externe.
Parmi les fonctions clés : les Toasts Bootstrap pour les notifications, les compteurs animés au chargement, les minuteurs en direct pour les tickets appelés, la recherche en temps réel dans les tableaux, la validation des formulaires avec animation shake, et le modal de confirmation Bootstrap pour les suppressions.
Le rafraîchissement automatique via Fetch API actualise le nombre de tickets en attente toutes les 30 secondes sans rechargement de la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démonstration, voici les cinq comptes pré-configurés dans la base de données.
Le mot de passe est 'password' pour tous les comptes.
Nous allons maintenant montrer le flux complet : connexion en tant que citoyen, prise d'un ticket pour le service État Civil, puis passage côté agent pour appeler ce ticket, et enfin la vue administrateur avec les statistiques en temps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SmartQueue répond à toutes les exigences du Projet Intégré 2BIS pour la partie Web.
L'application est construite sans framework externe, avec PHP natif, PDO, MySQL et Bootstrap 5, conformément aux contraintes imposées.
Elle propose une expérience utilisateur moderne avec des interactions JavaScript enrichies, des interfaces responsives, et une sécurité solide.
Sur le plan social, SmartQueue contribue directement à l'ODD numéro 11 en réduisant les déplacements inutiles des citoyens et en améliorant leur rapport avec les services publics.
Nous sommes maintenant disponibles pour répondre à vos questions.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53D"/>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86AB"/>
          </a:solidFill>
          <a:ln w="12700">
            <a:solidFill>
              <a:srgbClr val="2E86AB"/>
            </a:solidFill>
            <a:prstDash val="solid"/>
          </a:ln>
        </p:spPr>
      </p:sp>
      <p:sp>
        <p:nvSpPr>
          <p:cNvPr id="3" name="Shape 1"/>
          <p:cNvSpPr/>
          <p:nvPr/>
        </p:nvSpPr>
        <p:spPr>
          <a:xfrm>
            <a:off x="1005840" y="640080"/>
            <a:ext cx="1005840" cy="100584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4" name="Text 2"/>
          <p:cNvSpPr/>
          <p:nvPr/>
        </p:nvSpPr>
        <p:spPr>
          <a:xfrm>
            <a:off x="1005840" y="658368"/>
            <a:ext cx="1005840" cy="10058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5" name="Text 3"/>
          <p:cNvSpPr/>
          <p:nvPr/>
        </p:nvSpPr>
        <p:spPr>
          <a:xfrm>
            <a:off x="365760" y="1463040"/>
            <a:ext cx="841248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Calibri" pitchFamily="34" charset="0"/>
                <a:ea typeface="Calibri" pitchFamily="34" charset="-122"/>
                <a:cs typeface="Calibri" pitchFamily="34" charset="-120"/>
              </a:rPr>
              <a:t>SmartQueue</a:t>
            </a:r>
            <a:endParaRPr lang="en-US" sz="5600" dirty="0"/>
          </a:p>
        </p:txBody>
      </p:sp>
      <p:sp>
        <p:nvSpPr>
          <p:cNvPr id="6" name="Text 4"/>
          <p:cNvSpPr/>
          <p:nvPr/>
        </p:nvSpPr>
        <p:spPr>
          <a:xfrm>
            <a:off x="365760" y="2514600"/>
            <a:ext cx="6400800" cy="502920"/>
          </a:xfrm>
          <a:prstGeom prst="rect">
            <a:avLst/>
          </a:prstGeom>
          <a:noFill/>
          <a:ln/>
        </p:spPr>
        <p:txBody>
          <a:bodyPr wrap="square" lIns="0" tIns="0" rIns="0" bIns="0" rtlCol="0" anchor="ctr"/>
          <a:lstStyle/>
          <a:p>
            <a:pPr algn="l" indent="0" marL="0">
              <a:buNone/>
            </a:pPr>
            <a:r>
              <a:rPr lang="en-US" sz="2000" i="1" dirty="0">
                <a:solidFill>
                  <a:srgbClr val="6C8EAD"/>
                </a:solidFill>
                <a:latin typeface="Calibri" pitchFamily="34" charset="0"/>
                <a:ea typeface="Calibri" pitchFamily="34" charset="-122"/>
                <a:cs typeface="Calibri" pitchFamily="34" charset="-120"/>
              </a:rPr>
              <a:t>Système de Gestion de File d'Attente en Ligne</a:t>
            </a:r>
            <a:endParaRPr lang="en-US" sz="2000" dirty="0"/>
          </a:p>
        </p:txBody>
      </p:sp>
      <p:sp>
        <p:nvSpPr>
          <p:cNvPr id="7" name="Shape 5"/>
          <p:cNvSpPr/>
          <p:nvPr/>
        </p:nvSpPr>
        <p:spPr>
          <a:xfrm>
            <a:off x="5943600" y="3840480"/>
            <a:ext cx="3017520" cy="1051560"/>
          </a:xfrm>
          <a:prstGeom prst="rect">
            <a:avLst/>
          </a:prstGeom>
          <a:solidFill>
            <a:srgbClr val="2E86AB">
              <a:alpha val="80000"/>
            </a:srgbClr>
          </a:solidFill>
          <a:ln w="12700">
            <a:solidFill>
              <a:srgbClr val="2E86AB"/>
            </a:solidFill>
            <a:prstDash val="solid"/>
          </a:ln>
        </p:spPr>
      </p:sp>
      <p:sp>
        <p:nvSpPr>
          <p:cNvPr id="8" name="Text 6"/>
          <p:cNvSpPr/>
          <p:nvPr/>
        </p:nvSpPr>
        <p:spPr>
          <a:xfrm>
            <a:off x="5989320" y="3858768"/>
            <a:ext cx="2926080" cy="102412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Projet Intégré 2BIS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ESEN Manouba — 2025/2026</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Prog. Web 2 | PHP + MySQL + Bootstrap 5</a:t>
            </a:r>
            <a:endParaRPr lang="en-US" sz="1100" dirty="0"/>
          </a:p>
        </p:txBody>
      </p:sp>
      <p:sp>
        <p:nvSpPr>
          <p:cNvPr id="9" name="Text 7"/>
          <p:cNvSpPr/>
          <p:nvPr/>
        </p:nvSpPr>
        <p:spPr>
          <a:xfrm>
            <a:off x="365760" y="4572000"/>
            <a:ext cx="4572000" cy="320040"/>
          </a:xfrm>
          <a:prstGeom prst="rect">
            <a:avLst/>
          </a:prstGeom>
          <a:noFill/>
          <a:ln/>
        </p:spPr>
        <p:txBody>
          <a:bodyPr wrap="square" lIns="0" tIns="0" rIns="0" bIns="0" rtlCol="0" anchor="ctr"/>
          <a:lstStyle/>
          <a:p>
            <a:pPr algn="l" indent="0" marL="0">
              <a:buNone/>
            </a:pPr>
            <a:r>
              <a:rPr lang="en-US" sz="1200" dirty="0">
                <a:solidFill>
                  <a:srgbClr val="6C8EAD"/>
                </a:solidFill>
                <a:latin typeface="Calibri" pitchFamily="34" charset="0"/>
                <a:ea typeface="Calibri" pitchFamily="34" charset="-122"/>
                <a:cs typeface="Calibri" pitchFamily="34" charset="-120"/>
              </a:rPr>
              <a:t>Soutenance : 09 Mai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Plan de présentation</a:t>
            </a:r>
            <a:endParaRPr lang="en-US" sz="2600" dirty="0"/>
          </a:p>
        </p:txBody>
      </p:sp>
      <p:sp>
        <p:nvSpPr>
          <p:cNvPr id="4" name="Shape 2"/>
          <p:cNvSpPr/>
          <p:nvPr/>
        </p:nvSpPr>
        <p:spPr>
          <a:xfrm>
            <a:off x="457200" y="1005840"/>
            <a:ext cx="3931920" cy="100584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48640" y="1005840"/>
            <a:ext cx="50292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6" name="Shape 4"/>
          <p:cNvSpPr/>
          <p:nvPr/>
        </p:nvSpPr>
        <p:spPr>
          <a:xfrm>
            <a:off x="1051560" y="1005840"/>
            <a:ext cx="36576" cy="1005840"/>
          </a:xfrm>
          <a:prstGeom prst="rect">
            <a:avLst/>
          </a:prstGeom>
          <a:solidFill>
            <a:srgbClr val="FFFFFF">
              <a:alpha val="40000"/>
            </a:srgbClr>
          </a:solidFill>
          <a:ln w="12700">
            <a:solidFill>
              <a:srgbClr val="FFFFFF">
                <a:alpha val="40000"/>
              </a:srgbClr>
            </a:solidFill>
            <a:prstDash val="solid"/>
          </a:ln>
        </p:spPr>
      </p:sp>
      <p:sp>
        <p:nvSpPr>
          <p:cNvPr id="7" name="Text 5"/>
          <p:cNvSpPr/>
          <p:nvPr/>
        </p:nvSpPr>
        <p:spPr>
          <a:xfrm>
            <a:off x="1152144" y="1005840"/>
            <a:ext cx="3145536" cy="10058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Contexte &amp; Problématique</a:t>
            </a:r>
            <a:endParaRPr lang="en-US" sz="1400" dirty="0"/>
          </a:p>
        </p:txBody>
      </p:sp>
      <p:sp>
        <p:nvSpPr>
          <p:cNvPr id="8" name="Shape 6"/>
          <p:cNvSpPr/>
          <p:nvPr/>
        </p:nvSpPr>
        <p:spPr>
          <a:xfrm>
            <a:off x="4846320" y="1005840"/>
            <a:ext cx="3931920" cy="100584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937760" y="1005840"/>
            <a:ext cx="50292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0" name="Shape 8"/>
          <p:cNvSpPr/>
          <p:nvPr/>
        </p:nvSpPr>
        <p:spPr>
          <a:xfrm>
            <a:off x="5440680" y="1005840"/>
            <a:ext cx="36576" cy="1005840"/>
          </a:xfrm>
          <a:prstGeom prst="rect">
            <a:avLst/>
          </a:prstGeom>
          <a:solidFill>
            <a:srgbClr val="FFFFFF">
              <a:alpha val="40000"/>
            </a:srgbClr>
          </a:solidFill>
          <a:ln w="12700">
            <a:solidFill>
              <a:srgbClr val="FFFFFF">
                <a:alpha val="40000"/>
              </a:srgbClr>
            </a:solidFill>
            <a:prstDash val="solid"/>
          </a:ln>
        </p:spPr>
      </p:sp>
      <p:sp>
        <p:nvSpPr>
          <p:cNvPr id="11" name="Text 9"/>
          <p:cNvSpPr/>
          <p:nvPr/>
        </p:nvSpPr>
        <p:spPr>
          <a:xfrm>
            <a:off x="5541264" y="1005840"/>
            <a:ext cx="3145536" cy="10058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Architecture technique</a:t>
            </a:r>
            <a:endParaRPr lang="en-US" sz="1400" dirty="0"/>
          </a:p>
        </p:txBody>
      </p:sp>
      <p:sp>
        <p:nvSpPr>
          <p:cNvPr id="12" name="Shape 10"/>
          <p:cNvSpPr/>
          <p:nvPr/>
        </p:nvSpPr>
        <p:spPr>
          <a:xfrm>
            <a:off x="457200" y="2194560"/>
            <a:ext cx="3931920" cy="100584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548640" y="2194560"/>
            <a:ext cx="50292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4" name="Shape 12"/>
          <p:cNvSpPr/>
          <p:nvPr/>
        </p:nvSpPr>
        <p:spPr>
          <a:xfrm>
            <a:off x="1051560" y="2194560"/>
            <a:ext cx="36576" cy="1005840"/>
          </a:xfrm>
          <a:prstGeom prst="rect">
            <a:avLst/>
          </a:prstGeom>
          <a:solidFill>
            <a:srgbClr val="FFFFFF">
              <a:alpha val="40000"/>
            </a:srgbClr>
          </a:solidFill>
          <a:ln w="12700">
            <a:solidFill>
              <a:srgbClr val="FFFFFF">
                <a:alpha val="40000"/>
              </a:srgbClr>
            </a:solidFill>
            <a:prstDash val="solid"/>
          </a:ln>
        </p:spPr>
      </p:sp>
      <p:sp>
        <p:nvSpPr>
          <p:cNvPr id="15" name="Text 13"/>
          <p:cNvSpPr/>
          <p:nvPr/>
        </p:nvSpPr>
        <p:spPr>
          <a:xfrm>
            <a:off x="1152144" y="2194560"/>
            <a:ext cx="3145536" cy="10058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Base de données</a:t>
            </a:r>
            <a:endParaRPr lang="en-US" sz="1400" dirty="0"/>
          </a:p>
        </p:txBody>
      </p:sp>
      <p:sp>
        <p:nvSpPr>
          <p:cNvPr id="16" name="Shape 14"/>
          <p:cNvSpPr/>
          <p:nvPr/>
        </p:nvSpPr>
        <p:spPr>
          <a:xfrm>
            <a:off x="4846320" y="2194560"/>
            <a:ext cx="3931920" cy="100584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937760" y="2194560"/>
            <a:ext cx="50292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18" name="Shape 16"/>
          <p:cNvSpPr/>
          <p:nvPr/>
        </p:nvSpPr>
        <p:spPr>
          <a:xfrm>
            <a:off x="5440680" y="2194560"/>
            <a:ext cx="36576" cy="1005840"/>
          </a:xfrm>
          <a:prstGeom prst="rect">
            <a:avLst/>
          </a:prstGeom>
          <a:solidFill>
            <a:srgbClr val="FFFFFF">
              <a:alpha val="40000"/>
            </a:srgbClr>
          </a:solidFill>
          <a:ln w="12700">
            <a:solidFill>
              <a:srgbClr val="FFFFFF">
                <a:alpha val="40000"/>
              </a:srgbClr>
            </a:solidFill>
            <a:prstDash val="solid"/>
          </a:ln>
        </p:spPr>
      </p:sp>
      <p:sp>
        <p:nvSpPr>
          <p:cNvPr id="19" name="Text 17"/>
          <p:cNvSpPr/>
          <p:nvPr/>
        </p:nvSpPr>
        <p:spPr>
          <a:xfrm>
            <a:off x="5541264" y="2194560"/>
            <a:ext cx="3145536" cy="10058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Fonctionnalités par acteur</a:t>
            </a:r>
            <a:endParaRPr lang="en-US" sz="1400" dirty="0"/>
          </a:p>
        </p:txBody>
      </p:sp>
      <p:sp>
        <p:nvSpPr>
          <p:cNvPr id="20" name="Shape 18"/>
          <p:cNvSpPr/>
          <p:nvPr/>
        </p:nvSpPr>
        <p:spPr>
          <a:xfrm>
            <a:off x="457200" y="3383280"/>
            <a:ext cx="3931920" cy="100584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548640" y="3383280"/>
            <a:ext cx="50292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22" name="Shape 20"/>
          <p:cNvSpPr/>
          <p:nvPr/>
        </p:nvSpPr>
        <p:spPr>
          <a:xfrm>
            <a:off x="1051560" y="3383280"/>
            <a:ext cx="36576" cy="1005840"/>
          </a:xfrm>
          <a:prstGeom prst="rect">
            <a:avLst/>
          </a:prstGeom>
          <a:solidFill>
            <a:srgbClr val="FFFFFF">
              <a:alpha val="40000"/>
            </a:srgbClr>
          </a:solidFill>
          <a:ln w="12700">
            <a:solidFill>
              <a:srgbClr val="FFFFFF">
                <a:alpha val="40000"/>
              </a:srgbClr>
            </a:solidFill>
            <a:prstDash val="solid"/>
          </a:ln>
        </p:spPr>
      </p:sp>
      <p:sp>
        <p:nvSpPr>
          <p:cNvPr id="23" name="Text 21"/>
          <p:cNvSpPr/>
          <p:nvPr/>
        </p:nvSpPr>
        <p:spPr>
          <a:xfrm>
            <a:off x="1152144" y="3383280"/>
            <a:ext cx="3145536" cy="10058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Enrichissements JS / Bootstrap</a:t>
            </a:r>
            <a:endParaRPr lang="en-US" sz="1400" dirty="0"/>
          </a:p>
        </p:txBody>
      </p:sp>
      <p:sp>
        <p:nvSpPr>
          <p:cNvPr id="24" name="Shape 22"/>
          <p:cNvSpPr/>
          <p:nvPr/>
        </p:nvSpPr>
        <p:spPr>
          <a:xfrm>
            <a:off x="4846320" y="3383280"/>
            <a:ext cx="3931920" cy="100584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4937760" y="3383280"/>
            <a:ext cx="502920"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6</a:t>
            </a:r>
            <a:endParaRPr lang="en-US" sz="3200" dirty="0"/>
          </a:p>
        </p:txBody>
      </p:sp>
      <p:sp>
        <p:nvSpPr>
          <p:cNvPr id="26" name="Shape 24"/>
          <p:cNvSpPr/>
          <p:nvPr/>
        </p:nvSpPr>
        <p:spPr>
          <a:xfrm>
            <a:off x="5440680" y="3383280"/>
            <a:ext cx="36576" cy="1005840"/>
          </a:xfrm>
          <a:prstGeom prst="rect">
            <a:avLst/>
          </a:prstGeom>
          <a:solidFill>
            <a:srgbClr val="FFFFFF">
              <a:alpha val="40000"/>
            </a:srgbClr>
          </a:solidFill>
          <a:ln w="12700">
            <a:solidFill>
              <a:srgbClr val="FFFFFF">
                <a:alpha val="40000"/>
              </a:srgbClr>
            </a:solidFill>
            <a:prstDash val="solid"/>
          </a:ln>
        </p:spPr>
      </p:sp>
      <p:sp>
        <p:nvSpPr>
          <p:cNvPr id="27" name="Text 25"/>
          <p:cNvSpPr/>
          <p:nvPr/>
        </p:nvSpPr>
        <p:spPr>
          <a:xfrm>
            <a:off x="5541264" y="3383280"/>
            <a:ext cx="3145536" cy="10058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Démonstration &amp; Comptes de test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 Contexte &amp; Problématique</a:t>
            </a:r>
            <a:endParaRPr lang="en-US" sz="2600" dirty="0"/>
          </a:p>
        </p:txBody>
      </p:sp>
      <p:sp>
        <p:nvSpPr>
          <p:cNvPr id="4" name="Shape 2"/>
          <p:cNvSpPr/>
          <p:nvPr/>
        </p:nvSpPr>
        <p:spPr>
          <a:xfrm>
            <a:off x="274320" y="960120"/>
            <a:ext cx="3931920" cy="347472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274320" y="960120"/>
            <a:ext cx="3931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Problème</a:t>
            </a:r>
            <a:endParaRPr lang="en-US" sz="1600" dirty="0"/>
          </a:p>
        </p:txBody>
      </p:sp>
      <p:sp>
        <p:nvSpPr>
          <p:cNvPr id="6" name="Text 4"/>
          <p:cNvSpPr/>
          <p:nvPr/>
        </p:nvSpPr>
        <p:spPr>
          <a:xfrm>
            <a:off x="457200" y="1554480"/>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Files d'attente très longues</a:t>
            </a:r>
            <a:endParaRPr lang="en-US" sz="1300" dirty="0"/>
          </a:p>
        </p:txBody>
      </p:sp>
      <p:sp>
        <p:nvSpPr>
          <p:cNvPr id="7" name="Text 5"/>
          <p:cNvSpPr/>
          <p:nvPr/>
        </p:nvSpPr>
        <p:spPr>
          <a:xfrm>
            <a:off x="457200" y="2212848"/>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Déplacements multiples inutiles</a:t>
            </a:r>
            <a:endParaRPr lang="en-US" sz="1300" dirty="0"/>
          </a:p>
        </p:txBody>
      </p:sp>
      <p:sp>
        <p:nvSpPr>
          <p:cNvPr id="8" name="Text 6"/>
          <p:cNvSpPr/>
          <p:nvPr/>
        </p:nvSpPr>
        <p:spPr>
          <a:xfrm>
            <a:off x="457200" y="2871216"/>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Aucune visibilité sur l'état de la file</a:t>
            </a:r>
            <a:endParaRPr lang="en-US" sz="1300" dirty="0"/>
          </a:p>
        </p:txBody>
      </p:sp>
      <p:sp>
        <p:nvSpPr>
          <p:cNvPr id="9" name="Text 7"/>
          <p:cNvSpPr/>
          <p:nvPr/>
        </p:nvSpPr>
        <p:spPr>
          <a:xfrm>
            <a:off x="457200" y="3529584"/>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Expérience citoyenne dégradée</a:t>
            </a:r>
            <a:endParaRPr lang="en-US" sz="1300" dirty="0"/>
          </a:p>
        </p:txBody>
      </p:sp>
      <p:sp>
        <p:nvSpPr>
          <p:cNvPr id="10" name="Shape 8"/>
          <p:cNvSpPr/>
          <p:nvPr/>
        </p:nvSpPr>
        <p:spPr>
          <a:xfrm>
            <a:off x="4251960" y="2468880"/>
            <a:ext cx="640080" cy="182880"/>
          </a:xfrm>
          <a:prstGeom prst="rect">
            <a:avLst/>
          </a:prstGeom>
          <a:solidFill>
            <a:srgbClr val="2E86AB"/>
          </a:solidFill>
          <a:ln w="12700">
            <a:solidFill>
              <a:srgbClr val="2E86AB"/>
            </a:solidFill>
            <a:prstDash val="solid"/>
          </a:ln>
        </p:spPr>
      </p:sp>
      <p:sp>
        <p:nvSpPr>
          <p:cNvPr id="11" name="Text 9"/>
          <p:cNvSpPr/>
          <p:nvPr/>
        </p:nvSpPr>
        <p:spPr>
          <a:xfrm>
            <a:off x="4709160" y="2331720"/>
            <a:ext cx="365760" cy="457200"/>
          </a:xfrm>
          <a:prstGeom prst="rect">
            <a:avLst/>
          </a:prstGeom>
          <a:noFill/>
          <a:ln/>
        </p:spPr>
        <p:txBody>
          <a:bodyPr wrap="square" lIns="0" tIns="0" rIns="0" bIns="0" rtlCol="0" anchor="ctr"/>
          <a:lstStyle/>
          <a:p>
            <a:pPr algn="ctr" indent="0" marL="0">
              <a:buNone/>
            </a:pPr>
            <a:r>
              <a:rPr lang="en-US" sz="2000" dirty="0">
                <a:solidFill>
                  <a:srgbClr val="2E86AB"/>
                </a:solidFill>
              </a:rPr>
              <a:t>▶</a:t>
            </a:r>
            <a:endParaRPr lang="en-US" sz="2000" dirty="0"/>
          </a:p>
        </p:txBody>
      </p:sp>
      <p:sp>
        <p:nvSpPr>
          <p:cNvPr id="12" name="Shape 10"/>
          <p:cNvSpPr/>
          <p:nvPr/>
        </p:nvSpPr>
        <p:spPr>
          <a:xfrm>
            <a:off x="4937760" y="960120"/>
            <a:ext cx="3931920" cy="347472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4937760" y="960120"/>
            <a:ext cx="3931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SmartQueue répond à :</a:t>
            </a:r>
            <a:endParaRPr lang="en-US" sz="1600" dirty="0"/>
          </a:p>
        </p:txBody>
      </p:sp>
      <p:sp>
        <p:nvSpPr>
          <p:cNvPr id="14" name="Text 12"/>
          <p:cNvSpPr/>
          <p:nvPr/>
        </p:nvSpPr>
        <p:spPr>
          <a:xfrm>
            <a:off x="5120640" y="1554480"/>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Ticket en ligne — zéro déplacement</a:t>
            </a:r>
            <a:endParaRPr lang="en-US" sz="1300" dirty="0"/>
          </a:p>
        </p:txBody>
      </p:sp>
      <p:sp>
        <p:nvSpPr>
          <p:cNvPr id="15" name="Text 13"/>
          <p:cNvSpPr/>
          <p:nvPr/>
        </p:nvSpPr>
        <p:spPr>
          <a:xfrm>
            <a:off x="5120640" y="2212848"/>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Suivi en temps réel</a:t>
            </a:r>
            <a:endParaRPr lang="en-US" sz="1300" dirty="0"/>
          </a:p>
        </p:txBody>
      </p:sp>
      <p:sp>
        <p:nvSpPr>
          <p:cNvPr id="16" name="Text 14"/>
          <p:cNvSpPr/>
          <p:nvPr/>
        </p:nvSpPr>
        <p:spPr>
          <a:xfrm>
            <a:off x="5120640" y="2871216"/>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Notifications automatiques</a:t>
            </a:r>
            <a:endParaRPr lang="en-US" sz="1300" dirty="0"/>
          </a:p>
        </p:txBody>
      </p:sp>
      <p:sp>
        <p:nvSpPr>
          <p:cNvPr id="17" name="Text 15"/>
          <p:cNvSpPr/>
          <p:nvPr/>
        </p:nvSpPr>
        <p:spPr>
          <a:xfrm>
            <a:off x="5120640" y="3529584"/>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ODD n°11 — Villes durables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 Architecture technique — MVC simplifié</a:t>
            </a:r>
            <a:endParaRPr lang="en-US" sz="2400" dirty="0"/>
          </a:p>
        </p:txBody>
      </p:sp>
      <p:sp>
        <p:nvSpPr>
          <p:cNvPr id="4" name="Shape 2"/>
          <p:cNvSpPr/>
          <p:nvPr/>
        </p:nvSpPr>
        <p:spPr>
          <a:xfrm>
            <a:off x="274320" y="960120"/>
            <a:ext cx="1554480" cy="411480"/>
          </a:xfrm>
          <a:prstGeom prst="rect">
            <a:avLst/>
          </a:prstGeom>
          <a:solidFill>
            <a:srgbClr val="1E3A5F"/>
          </a:solidFill>
          <a:ln w="12700">
            <a:solidFill>
              <a:srgbClr val="1E3A5F"/>
            </a:solidFill>
            <a:prstDash val="solid"/>
          </a:ln>
        </p:spPr>
      </p:sp>
      <p:sp>
        <p:nvSpPr>
          <p:cNvPr id="5" name="Text 3"/>
          <p:cNvSpPr/>
          <p:nvPr/>
        </p:nvSpPr>
        <p:spPr>
          <a:xfrm>
            <a:off x="274320" y="96012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PHP 8.2</a:t>
            </a:r>
            <a:endParaRPr lang="en-US" sz="1100" dirty="0"/>
          </a:p>
        </p:txBody>
      </p:sp>
      <p:sp>
        <p:nvSpPr>
          <p:cNvPr id="6" name="Shape 4"/>
          <p:cNvSpPr/>
          <p:nvPr/>
        </p:nvSpPr>
        <p:spPr>
          <a:xfrm>
            <a:off x="1993392" y="960120"/>
            <a:ext cx="1554480" cy="411480"/>
          </a:xfrm>
          <a:prstGeom prst="rect">
            <a:avLst/>
          </a:prstGeom>
          <a:solidFill>
            <a:srgbClr val="2E86AB"/>
          </a:solidFill>
          <a:ln w="12700">
            <a:solidFill>
              <a:srgbClr val="2E86AB"/>
            </a:solidFill>
            <a:prstDash val="solid"/>
          </a:ln>
        </p:spPr>
      </p:sp>
      <p:sp>
        <p:nvSpPr>
          <p:cNvPr id="7" name="Text 5"/>
          <p:cNvSpPr/>
          <p:nvPr/>
        </p:nvSpPr>
        <p:spPr>
          <a:xfrm>
            <a:off x="1993392" y="96012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PDO</a:t>
            </a:r>
            <a:endParaRPr lang="en-US" sz="1100" dirty="0"/>
          </a:p>
        </p:txBody>
      </p:sp>
      <p:sp>
        <p:nvSpPr>
          <p:cNvPr id="8" name="Shape 6"/>
          <p:cNvSpPr/>
          <p:nvPr/>
        </p:nvSpPr>
        <p:spPr>
          <a:xfrm>
            <a:off x="3712464" y="960120"/>
            <a:ext cx="1554480" cy="411480"/>
          </a:xfrm>
          <a:prstGeom prst="rect">
            <a:avLst/>
          </a:prstGeom>
          <a:solidFill>
            <a:srgbClr val="198754"/>
          </a:solidFill>
          <a:ln w="12700">
            <a:solidFill>
              <a:srgbClr val="198754"/>
            </a:solidFill>
            <a:prstDash val="solid"/>
          </a:ln>
        </p:spPr>
      </p:sp>
      <p:sp>
        <p:nvSpPr>
          <p:cNvPr id="9" name="Text 7"/>
          <p:cNvSpPr/>
          <p:nvPr/>
        </p:nvSpPr>
        <p:spPr>
          <a:xfrm>
            <a:off x="3712464" y="96012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MySQL 8</a:t>
            </a:r>
            <a:endParaRPr lang="en-US" sz="1100" dirty="0"/>
          </a:p>
        </p:txBody>
      </p:sp>
      <p:sp>
        <p:nvSpPr>
          <p:cNvPr id="10" name="Shape 8"/>
          <p:cNvSpPr/>
          <p:nvPr/>
        </p:nvSpPr>
        <p:spPr>
          <a:xfrm>
            <a:off x="5431536" y="960120"/>
            <a:ext cx="1554480" cy="411480"/>
          </a:xfrm>
          <a:prstGeom prst="rect">
            <a:avLst/>
          </a:prstGeom>
          <a:solidFill>
            <a:srgbClr val="7952B3"/>
          </a:solidFill>
          <a:ln w="12700">
            <a:solidFill>
              <a:srgbClr val="7952B3"/>
            </a:solidFill>
            <a:prstDash val="solid"/>
          </a:ln>
        </p:spPr>
      </p:sp>
      <p:sp>
        <p:nvSpPr>
          <p:cNvPr id="11" name="Text 9"/>
          <p:cNvSpPr/>
          <p:nvPr/>
        </p:nvSpPr>
        <p:spPr>
          <a:xfrm>
            <a:off x="5431536" y="96012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Bootstrap 5</a:t>
            </a:r>
            <a:endParaRPr lang="en-US" sz="1100" dirty="0"/>
          </a:p>
        </p:txBody>
      </p:sp>
      <p:sp>
        <p:nvSpPr>
          <p:cNvPr id="12" name="Shape 10"/>
          <p:cNvSpPr/>
          <p:nvPr/>
        </p:nvSpPr>
        <p:spPr>
          <a:xfrm>
            <a:off x="7150608" y="960120"/>
            <a:ext cx="1554480" cy="411480"/>
          </a:xfrm>
          <a:prstGeom prst="rect">
            <a:avLst/>
          </a:prstGeom>
          <a:solidFill>
            <a:srgbClr val="F7A72A"/>
          </a:solidFill>
          <a:ln w="12700">
            <a:solidFill>
              <a:srgbClr val="F7A72A"/>
            </a:solidFill>
            <a:prstDash val="solid"/>
          </a:ln>
        </p:spPr>
      </p:sp>
      <p:sp>
        <p:nvSpPr>
          <p:cNvPr id="13" name="Text 11"/>
          <p:cNvSpPr/>
          <p:nvPr/>
        </p:nvSpPr>
        <p:spPr>
          <a:xfrm>
            <a:off x="7150608" y="96012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JavaScript ES6</a:t>
            </a:r>
            <a:endParaRPr lang="en-US" sz="1100" dirty="0"/>
          </a:p>
        </p:txBody>
      </p:sp>
      <p:sp>
        <p:nvSpPr>
          <p:cNvPr id="14" name="Shape 12"/>
          <p:cNvSpPr/>
          <p:nvPr/>
        </p:nvSpPr>
        <p:spPr>
          <a:xfrm>
            <a:off x="274320" y="1554480"/>
            <a:ext cx="2560320" cy="128016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274320" y="1554480"/>
            <a:ext cx="256032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MODÈLE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(PHP + PDO + SQL)</a:t>
            </a:r>
            <a:endParaRPr lang="en-US" sz="1300" dirty="0"/>
          </a:p>
        </p:txBody>
      </p:sp>
      <p:sp>
        <p:nvSpPr>
          <p:cNvPr id="16" name="Text 14"/>
          <p:cNvSpPr/>
          <p:nvPr/>
        </p:nvSpPr>
        <p:spPr>
          <a:xfrm>
            <a:off x="2834640" y="1965960"/>
            <a:ext cx="777240" cy="457200"/>
          </a:xfrm>
          <a:prstGeom prst="rect">
            <a:avLst/>
          </a:prstGeom>
          <a:noFill/>
          <a:ln/>
        </p:spPr>
        <p:txBody>
          <a:bodyPr wrap="square" lIns="0" tIns="0" rIns="0" bIns="0" rtlCol="0" anchor="ctr"/>
          <a:lstStyle/>
          <a:p>
            <a:pPr algn="ctr" indent="0" marL="0">
              <a:buNone/>
            </a:pPr>
            <a:r>
              <a:rPr lang="en-US" sz="2800" dirty="0">
                <a:solidFill>
                  <a:srgbClr val="1E3A5F"/>
                </a:solidFill>
              </a:rPr>
              <a:t>→</a:t>
            </a:r>
            <a:endParaRPr lang="en-US" sz="2800" dirty="0"/>
          </a:p>
        </p:txBody>
      </p:sp>
      <p:sp>
        <p:nvSpPr>
          <p:cNvPr id="17" name="Shape 15"/>
          <p:cNvSpPr/>
          <p:nvPr/>
        </p:nvSpPr>
        <p:spPr>
          <a:xfrm>
            <a:off x="3337560" y="1554480"/>
            <a:ext cx="2560320" cy="128016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3337560" y="1554480"/>
            <a:ext cx="256032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CONTRÔLEUR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(PHP scripts)</a:t>
            </a:r>
            <a:endParaRPr lang="en-US" sz="1300" dirty="0"/>
          </a:p>
        </p:txBody>
      </p:sp>
      <p:sp>
        <p:nvSpPr>
          <p:cNvPr id="19" name="Text 17"/>
          <p:cNvSpPr/>
          <p:nvPr/>
        </p:nvSpPr>
        <p:spPr>
          <a:xfrm>
            <a:off x="5897880" y="1965960"/>
            <a:ext cx="777240" cy="457200"/>
          </a:xfrm>
          <a:prstGeom prst="rect">
            <a:avLst/>
          </a:prstGeom>
          <a:noFill/>
          <a:ln/>
        </p:spPr>
        <p:txBody>
          <a:bodyPr wrap="square" lIns="0" tIns="0" rIns="0" bIns="0" rtlCol="0" anchor="ctr"/>
          <a:lstStyle/>
          <a:p>
            <a:pPr algn="ctr" indent="0" marL="0">
              <a:buNone/>
            </a:pPr>
            <a:r>
              <a:rPr lang="en-US" sz="2800" dirty="0">
                <a:solidFill>
                  <a:srgbClr val="1E3A5F"/>
                </a:solidFill>
              </a:rPr>
              <a:t>→</a:t>
            </a:r>
            <a:endParaRPr lang="en-US" sz="2800" dirty="0"/>
          </a:p>
        </p:txBody>
      </p:sp>
      <p:sp>
        <p:nvSpPr>
          <p:cNvPr id="20" name="Shape 18"/>
          <p:cNvSpPr/>
          <p:nvPr/>
        </p:nvSpPr>
        <p:spPr>
          <a:xfrm>
            <a:off x="6400800" y="1554480"/>
            <a:ext cx="2560320" cy="1280160"/>
          </a:xfrm>
          <a:prstGeom prst="rect">
            <a:avLst/>
          </a:prstGeom>
          <a:solidFill>
            <a:srgbClr val="198754"/>
          </a:solidFill>
          <a:ln w="12700">
            <a:solidFill>
              <a:srgbClr val="198754"/>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6400800" y="1554480"/>
            <a:ext cx="256032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VUE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(HTML + Bootstrap + JS)</a:t>
            </a:r>
            <a:endParaRPr lang="en-US" sz="1300" dirty="0"/>
          </a:p>
        </p:txBody>
      </p:sp>
      <p:sp>
        <p:nvSpPr>
          <p:cNvPr id="22" name="Text 20"/>
          <p:cNvSpPr/>
          <p:nvPr/>
        </p:nvSpPr>
        <p:spPr>
          <a:xfrm>
            <a:off x="274320" y="3063240"/>
            <a:ext cx="365760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Structure des dossiers</a:t>
            </a:r>
            <a:endParaRPr lang="en-US" sz="1400" dirty="0"/>
          </a:p>
        </p:txBody>
      </p:sp>
      <p:sp>
        <p:nvSpPr>
          <p:cNvPr id="23" name="Text 21"/>
          <p:cNvSpPr/>
          <p:nvPr/>
        </p:nvSpPr>
        <p:spPr>
          <a:xfrm>
            <a:off x="365760" y="3474720"/>
            <a:ext cx="4572000" cy="320040"/>
          </a:xfrm>
          <a:prstGeom prst="rect">
            <a:avLst/>
          </a:prstGeom>
          <a:noFill/>
          <a:ln/>
        </p:spPr>
        <p:txBody>
          <a:bodyPr wrap="square" lIns="0" tIns="0" rIns="0" bIns="0" rtlCol="0" anchor="ctr"/>
          <a:lstStyle/>
          <a:p>
            <a:pPr indent="0" marL="0">
              <a:buNone/>
            </a:pPr>
            <a:r>
              <a:rPr lang="en-US" sz="1200" dirty="0">
                <a:solidFill>
                  <a:srgbClr val="1E3A5F"/>
                </a:solidFill>
                <a:latin typeface="Courier New" pitchFamily="34" charset="0"/>
                <a:ea typeface="Courier New" pitchFamily="34" charset="-122"/>
                <a:cs typeface="Courier New" pitchFamily="34" charset="-120"/>
              </a:rPr>
              <a:t>• /config/connexion.php  →  PDO</a:t>
            </a:r>
            <a:endParaRPr lang="en-US" sz="1200" dirty="0"/>
          </a:p>
        </p:txBody>
      </p:sp>
      <p:sp>
        <p:nvSpPr>
          <p:cNvPr id="24" name="Text 22"/>
          <p:cNvSpPr/>
          <p:nvPr/>
        </p:nvSpPr>
        <p:spPr>
          <a:xfrm>
            <a:off x="365760" y="3813048"/>
            <a:ext cx="4572000" cy="320040"/>
          </a:xfrm>
          <a:prstGeom prst="rect">
            <a:avLst/>
          </a:prstGeom>
          <a:noFill/>
          <a:ln/>
        </p:spPr>
        <p:txBody>
          <a:bodyPr wrap="square" lIns="0" tIns="0" rIns="0" bIns="0" rtlCol="0" anchor="ctr"/>
          <a:lstStyle/>
          <a:p>
            <a:pPr indent="0" marL="0">
              <a:buNone/>
            </a:pPr>
            <a:r>
              <a:rPr lang="en-US" sz="1200" dirty="0">
                <a:solidFill>
                  <a:srgbClr val="1E3A5F"/>
                </a:solidFill>
                <a:latin typeface="Courier New" pitchFamily="34" charset="0"/>
                <a:ea typeface="Courier New" pitchFamily="34" charset="-122"/>
                <a:cs typeface="Courier New" pitchFamily="34" charset="-120"/>
              </a:rPr>
              <a:t>• /layout/header|footer.php  →  Layout commun</a:t>
            </a:r>
            <a:endParaRPr lang="en-US" sz="1200" dirty="0"/>
          </a:p>
        </p:txBody>
      </p:sp>
      <p:sp>
        <p:nvSpPr>
          <p:cNvPr id="25" name="Text 23"/>
          <p:cNvSpPr/>
          <p:nvPr/>
        </p:nvSpPr>
        <p:spPr>
          <a:xfrm>
            <a:off x="365760" y="4151376"/>
            <a:ext cx="4572000" cy="320040"/>
          </a:xfrm>
          <a:prstGeom prst="rect">
            <a:avLst/>
          </a:prstGeom>
          <a:noFill/>
          <a:ln/>
        </p:spPr>
        <p:txBody>
          <a:bodyPr wrap="square" lIns="0" tIns="0" rIns="0" bIns="0" rtlCol="0" anchor="ctr"/>
          <a:lstStyle/>
          <a:p>
            <a:pPr indent="0" marL="0">
              <a:buNone/>
            </a:pPr>
            <a:r>
              <a:rPr lang="en-US" sz="1200" dirty="0">
                <a:solidFill>
                  <a:srgbClr val="1E3A5F"/>
                </a:solidFill>
                <a:latin typeface="Courier New" pitchFamily="34" charset="0"/>
                <a:ea typeface="Courier New" pitchFamily="34" charset="-122"/>
                <a:cs typeface="Courier New" pitchFamily="34" charset="-120"/>
              </a:rPr>
              <a:t>• /admin/ | /guichet/ | /citoyen/  →  Espaces</a:t>
            </a:r>
            <a:endParaRPr lang="en-US" sz="1200" dirty="0"/>
          </a:p>
        </p:txBody>
      </p:sp>
      <p:sp>
        <p:nvSpPr>
          <p:cNvPr id="26" name="Text 24"/>
          <p:cNvSpPr/>
          <p:nvPr/>
        </p:nvSpPr>
        <p:spPr>
          <a:xfrm>
            <a:off x="365760" y="4489704"/>
            <a:ext cx="4572000" cy="320040"/>
          </a:xfrm>
          <a:prstGeom prst="rect">
            <a:avLst/>
          </a:prstGeom>
          <a:noFill/>
          <a:ln/>
        </p:spPr>
        <p:txBody>
          <a:bodyPr wrap="square" lIns="0" tIns="0" rIns="0" bIns="0" rtlCol="0" anchor="ctr"/>
          <a:lstStyle/>
          <a:p>
            <a:pPr indent="0" marL="0">
              <a:buNone/>
            </a:pPr>
            <a:r>
              <a:rPr lang="en-US" sz="1200" dirty="0">
                <a:solidFill>
                  <a:srgbClr val="1E3A5F"/>
                </a:solidFill>
                <a:latin typeface="Courier New" pitchFamily="34" charset="0"/>
                <a:ea typeface="Courier New" pitchFamily="34" charset="-122"/>
                <a:cs typeface="Courier New" pitchFamily="34" charset="-120"/>
              </a:rPr>
              <a:t>• /styles/style.css + /scripts/smartqueue.js</a:t>
            </a:r>
            <a:endParaRPr lang="en-US" sz="1200" dirty="0"/>
          </a:p>
        </p:txBody>
      </p:sp>
      <p:sp>
        <p:nvSpPr>
          <p:cNvPr id="27" name="Shape 25"/>
          <p:cNvSpPr/>
          <p:nvPr/>
        </p:nvSpPr>
        <p:spPr>
          <a:xfrm>
            <a:off x="5212080" y="3063240"/>
            <a:ext cx="3657600" cy="1828800"/>
          </a:xfrm>
          <a:prstGeom prst="rect">
            <a:avLst/>
          </a:prstGeom>
          <a:solidFill>
            <a:srgbClr val="E8F4F8"/>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28" name="Text 26"/>
          <p:cNvSpPr/>
          <p:nvPr/>
        </p:nvSpPr>
        <p:spPr>
          <a:xfrm>
            <a:off x="5257800" y="3090672"/>
            <a:ext cx="356616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 Sécurité</a:t>
            </a:r>
            <a:endParaRPr lang="en-US" sz="1400" dirty="0"/>
          </a:p>
        </p:txBody>
      </p:sp>
      <p:sp>
        <p:nvSpPr>
          <p:cNvPr id="29" name="Text 27"/>
          <p:cNvSpPr/>
          <p:nvPr/>
        </p:nvSpPr>
        <p:spPr>
          <a:xfrm>
            <a:off x="5303520" y="3493008"/>
            <a:ext cx="3474720" cy="32004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 password_hash() / password_verify()</a:t>
            </a:r>
            <a:endParaRPr lang="en-US" sz="1200" dirty="0"/>
          </a:p>
        </p:txBody>
      </p:sp>
      <p:sp>
        <p:nvSpPr>
          <p:cNvPr id="30" name="Text 28"/>
          <p:cNvSpPr/>
          <p:nvPr/>
        </p:nvSpPr>
        <p:spPr>
          <a:xfrm>
            <a:off x="5303520" y="3831336"/>
            <a:ext cx="3474720" cy="32004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 Requêtes préparées PDO</a:t>
            </a:r>
            <a:endParaRPr lang="en-US" sz="1200" dirty="0"/>
          </a:p>
        </p:txBody>
      </p:sp>
      <p:sp>
        <p:nvSpPr>
          <p:cNvPr id="31" name="Text 29"/>
          <p:cNvSpPr/>
          <p:nvPr/>
        </p:nvSpPr>
        <p:spPr>
          <a:xfrm>
            <a:off x="5303520" y="4169664"/>
            <a:ext cx="3474720" cy="32004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 requireLogin($role) sur chaque page</a:t>
            </a:r>
            <a:endParaRPr lang="en-US" sz="1200" dirty="0"/>
          </a:p>
        </p:txBody>
      </p:sp>
      <p:sp>
        <p:nvSpPr>
          <p:cNvPr id="32" name="Text 30"/>
          <p:cNvSpPr/>
          <p:nvPr/>
        </p:nvSpPr>
        <p:spPr>
          <a:xfrm>
            <a:off x="5303520" y="4507992"/>
            <a:ext cx="3474720" cy="32004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 htmlspecialchars() anti-XSS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 Base de données — 6 tables relationnelles</a:t>
            </a:r>
            <a:endParaRPr lang="en-US" sz="2400" dirty="0"/>
          </a:p>
        </p:txBody>
      </p:sp>
      <p:sp>
        <p:nvSpPr>
          <p:cNvPr id="4" name="Shape 2"/>
          <p:cNvSpPr/>
          <p:nvPr/>
        </p:nvSpPr>
        <p:spPr>
          <a:xfrm>
            <a:off x="228600" y="960120"/>
            <a:ext cx="2651760" cy="146304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320040" y="1033272"/>
            <a:ext cx="24688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utilisateurs</a:t>
            </a:r>
            <a:endParaRPr lang="en-US" sz="1400" dirty="0"/>
          </a:p>
        </p:txBody>
      </p:sp>
      <p:sp>
        <p:nvSpPr>
          <p:cNvPr id="6" name="Shape 4"/>
          <p:cNvSpPr/>
          <p:nvPr/>
        </p:nvSpPr>
        <p:spPr>
          <a:xfrm>
            <a:off x="320040" y="1435608"/>
            <a:ext cx="2468880" cy="27432"/>
          </a:xfrm>
          <a:prstGeom prst="rect">
            <a:avLst/>
          </a:prstGeom>
          <a:solidFill>
            <a:srgbClr val="FFFFFF">
              <a:alpha val="40000"/>
            </a:srgbClr>
          </a:solidFill>
          <a:ln w="12700">
            <a:solidFill>
              <a:srgbClr val="FFFFFF">
                <a:alpha val="40000"/>
              </a:srgbClr>
            </a:solidFill>
            <a:prstDash val="solid"/>
          </a:ln>
        </p:spPr>
      </p:sp>
      <p:sp>
        <p:nvSpPr>
          <p:cNvPr id="7" name="Text 5"/>
          <p:cNvSpPr/>
          <p:nvPr/>
        </p:nvSpPr>
        <p:spPr>
          <a:xfrm>
            <a:off x="338328" y="1508760"/>
            <a:ext cx="2432304" cy="841248"/>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id, nom, prenom, email, role…</a:t>
            </a:r>
            <a:endParaRPr lang="en-US" sz="1000" dirty="0"/>
          </a:p>
        </p:txBody>
      </p:sp>
      <p:sp>
        <p:nvSpPr>
          <p:cNvPr id="8" name="Shape 6"/>
          <p:cNvSpPr/>
          <p:nvPr/>
        </p:nvSpPr>
        <p:spPr>
          <a:xfrm>
            <a:off x="3154680" y="960120"/>
            <a:ext cx="2651760" cy="146304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3246120" y="1033272"/>
            <a:ext cx="24688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services</a:t>
            </a:r>
            <a:endParaRPr lang="en-US" sz="1400" dirty="0"/>
          </a:p>
        </p:txBody>
      </p:sp>
      <p:sp>
        <p:nvSpPr>
          <p:cNvPr id="10" name="Shape 8"/>
          <p:cNvSpPr/>
          <p:nvPr/>
        </p:nvSpPr>
        <p:spPr>
          <a:xfrm>
            <a:off x="3246120" y="1435608"/>
            <a:ext cx="2468880" cy="27432"/>
          </a:xfrm>
          <a:prstGeom prst="rect">
            <a:avLst/>
          </a:prstGeom>
          <a:solidFill>
            <a:srgbClr val="FFFFFF">
              <a:alpha val="40000"/>
            </a:srgbClr>
          </a:solidFill>
          <a:ln w="12700">
            <a:solidFill>
              <a:srgbClr val="FFFFFF">
                <a:alpha val="40000"/>
              </a:srgbClr>
            </a:solidFill>
            <a:prstDash val="solid"/>
          </a:ln>
        </p:spPr>
      </p:sp>
      <p:sp>
        <p:nvSpPr>
          <p:cNvPr id="11" name="Text 9"/>
          <p:cNvSpPr/>
          <p:nvPr/>
        </p:nvSpPr>
        <p:spPr>
          <a:xfrm>
            <a:off x="3264408" y="1508760"/>
            <a:ext cx="2432304" cy="841248"/>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id, nom, capacite_max, duree_moy…</a:t>
            </a:r>
            <a:endParaRPr lang="en-US" sz="1000" dirty="0"/>
          </a:p>
        </p:txBody>
      </p:sp>
      <p:sp>
        <p:nvSpPr>
          <p:cNvPr id="12" name="Shape 10"/>
          <p:cNvSpPr/>
          <p:nvPr/>
        </p:nvSpPr>
        <p:spPr>
          <a:xfrm>
            <a:off x="6080760" y="960120"/>
            <a:ext cx="2651760" cy="1463040"/>
          </a:xfrm>
          <a:prstGeom prst="rect">
            <a:avLst/>
          </a:prstGeom>
          <a:solidFill>
            <a:srgbClr val="198754"/>
          </a:solidFill>
          <a:ln w="12700">
            <a:solidFill>
              <a:srgbClr val="198754"/>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6172200" y="1033272"/>
            <a:ext cx="24688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guichets</a:t>
            </a:r>
            <a:endParaRPr lang="en-US" sz="1400" dirty="0"/>
          </a:p>
        </p:txBody>
      </p:sp>
      <p:sp>
        <p:nvSpPr>
          <p:cNvPr id="14" name="Shape 12"/>
          <p:cNvSpPr/>
          <p:nvPr/>
        </p:nvSpPr>
        <p:spPr>
          <a:xfrm>
            <a:off x="6172200" y="1435608"/>
            <a:ext cx="2468880" cy="27432"/>
          </a:xfrm>
          <a:prstGeom prst="rect">
            <a:avLst/>
          </a:prstGeom>
          <a:solidFill>
            <a:srgbClr val="FFFFFF">
              <a:alpha val="40000"/>
            </a:srgbClr>
          </a:solidFill>
          <a:ln w="12700">
            <a:solidFill>
              <a:srgbClr val="FFFFFF">
                <a:alpha val="40000"/>
              </a:srgbClr>
            </a:solidFill>
            <a:prstDash val="solid"/>
          </a:ln>
        </p:spPr>
      </p:sp>
      <p:sp>
        <p:nvSpPr>
          <p:cNvPr id="15" name="Text 13"/>
          <p:cNvSpPr/>
          <p:nvPr/>
        </p:nvSpPr>
        <p:spPr>
          <a:xfrm>
            <a:off x="6190488" y="1508760"/>
            <a:ext cx="2432304" cy="841248"/>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id, numero, service_id, agent_id…</a:t>
            </a:r>
            <a:endParaRPr lang="en-US" sz="1000" dirty="0"/>
          </a:p>
        </p:txBody>
      </p:sp>
      <p:sp>
        <p:nvSpPr>
          <p:cNvPr id="16" name="Shape 14"/>
          <p:cNvSpPr/>
          <p:nvPr/>
        </p:nvSpPr>
        <p:spPr>
          <a:xfrm>
            <a:off x="228600" y="2606040"/>
            <a:ext cx="2651760" cy="1463040"/>
          </a:xfrm>
          <a:prstGeom prst="rect">
            <a:avLst/>
          </a:prstGeom>
          <a:solidFill>
            <a:srgbClr val="9B5094"/>
          </a:solidFill>
          <a:ln w="12700">
            <a:solidFill>
              <a:srgbClr val="9B5094"/>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320040" y="2679192"/>
            <a:ext cx="24688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tickets</a:t>
            </a:r>
            <a:endParaRPr lang="en-US" sz="1400" dirty="0"/>
          </a:p>
        </p:txBody>
      </p:sp>
      <p:sp>
        <p:nvSpPr>
          <p:cNvPr id="18" name="Shape 16"/>
          <p:cNvSpPr/>
          <p:nvPr/>
        </p:nvSpPr>
        <p:spPr>
          <a:xfrm>
            <a:off x="320040" y="3081528"/>
            <a:ext cx="2468880" cy="27432"/>
          </a:xfrm>
          <a:prstGeom prst="rect">
            <a:avLst/>
          </a:prstGeom>
          <a:solidFill>
            <a:srgbClr val="FFFFFF">
              <a:alpha val="40000"/>
            </a:srgbClr>
          </a:solidFill>
          <a:ln w="12700">
            <a:solidFill>
              <a:srgbClr val="FFFFFF">
                <a:alpha val="40000"/>
              </a:srgbClr>
            </a:solidFill>
            <a:prstDash val="solid"/>
          </a:ln>
        </p:spPr>
      </p:sp>
      <p:sp>
        <p:nvSpPr>
          <p:cNvPr id="19" name="Text 17"/>
          <p:cNvSpPr/>
          <p:nvPr/>
        </p:nvSpPr>
        <p:spPr>
          <a:xfrm>
            <a:off x="338328" y="3154680"/>
            <a:ext cx="2432304" cy="841248"/>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id, numero, citoyen_id, statut, priorite…</a:t>
            </a:r>
            <a:endParaRPr lang="en-US" sz="1000" dirty="0"/>
          </a:p>
        </p:txBody>
      </p:sp>
      <p:sp>
        <p:nvSpPr>
          <p:cNvPr id="20" name="Shape 18"/>
          <p:cNvSpPr/>
          <p:nvPr/>
        </p:nvSpPr>
        <p:spPr>
          <a:xfrm>
            <a:off x="3154680" y="2606040"/>
            <a:ext cx="2651760" cy="1463040"/>
          </a:xfrm>
          <a:prstGeom prst="rect">
            <a:avLst/>
          </a:prstGeom>
          <a:solidFill>
            <a:srgbClr val="FFC107"/>
          </a:solidFill>
          <a:ln w="12700">
            <a:solidFill>
              <a:srgbClr val="FFC107"/>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3246120" y="2679192"/>
            <a:ext cx="24688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evaluations</a:t>
            </a:r>
            <a:endParaRPr lang="en-US" sz="1400" dirty="0"/>
          </a:p>
        </p:txBody>
      </p:sp>
      <p:sp>
        <p:nvSpPr>
          <p:cNvPr id="22" name="Shape 20"/>
          <p:cNvSpPr/>
          <p:nvPr/>
        </p:nvSpPr>
        <p:spPr>
          <a:xfrm>
            <a:off x="3246120" y="3081528"/>
            <a:ext cx="2468880" cy="27432"/>
          </a:xfrm>
          <a:prstGeom prst="rect">
            <a:avLst/>
          </a:prstGeom>
          <a:solidFill>
            <a:srgbClr val="FFFFFF">
              <a:alpha val="40000"/>
            </a:srgbClr>
          </a:solidFill>
          <a:ln w="12700">
            <a:solidFill>
              <a:srgbClr val="FFFFFF">
                <a:alpha val="40000"/>
              </a:srgbClr>
            </a:solidFill>
            <a:prstDash val="solid"/>
          </a:ln>
        </p:spPr>
      </p:sp>
      <p:sp>
        <p:nvSpPr>
          <p:cNvPr id="23" name="Text 21"/>
          <p:cNvSpPr/>
          <p:nvPr/>
        </p:nvSpPr>
        <p:spPr>
          <a:xfrm>
            <a:off x="3264408" y="3154680"/>
            <a:ext cx="2432304" cy="841248"/>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id, ticket_id (UNIQUE), note, commentaire</a:t>
            </a:r>
            <a:endParaRPr lang="en-US" sz="1000" dirty="0"/>
          </a:p>
        </p:txBody>
      </p:sp>
      <p:sp>
        <p:nvSpPr>
          <p:cNvPr id="24" name="Shape 22"/>
          <p:cNvSpPr/>
          <p:nvPr/>
        </p:nvSpPr>
        <p:spPr>
          <a:xfrm>
            <a:off x="6080760" y="2606040"/>
            <a:ext cx="2651760" cy="1463040"/>
          </a:xfrm>
          <a:prstGeom prst="rect">
            <a:avLst/>
          </a:prstGeom>
          <a:solidFill>
            <a:srgbClr val="DC3545"/>
          </a:solidFill>
          <a:ln w="12700">
            <a:solidFill>
              <a:srgbClr val="DC3545"/>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6172200" y="2679192"/>
            <a:ext cx="24688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notifications</a:t>
            </a:r>
            <a:endParaRPr lang="en-US" sz="1400" dirty="0"/>
          </a:p>
        </p:txBody>
      </p:sp>
      <p:sp>
        <p:nvSpPr>
          <p:cNvPr id="26" name="Shape 24"/>
          <p:cNvSpPr/>
          <p:nvPr/>
        </p:nvSpPr>
        <p:spPr>
          <a:xfrm>
            <a:off x="6172200" y="3081528"/>
            <a:ext cx="2468880" cy="27432"/>
          </a:xfrm>
          <a:prstGeom prst="rect">
            <a:avLst/>
          </a:prstGeom>
          <a:solidFill>
            <a:srgbClr val="FFFFFF">
              <a:alpha val="40000"/>
            </a:srgbClr>
          </a:solidFill>
          <a:ln w="12700">
            <a:solidFill>
              <a:srgbClr val="FFFFFF">
                <a:alpha val="40000"/>
              </a:srgbClr>
            </a:solidFill>
            <a:prstDash val="solid"/>
          </a:ln>
        </p:spPr>
      </p:sp>
      <p:sp>
        <p:nvSpPr>
          <p:cNvPr id="27" name="Text 25"/>
          <p:cNvSpPr/>
          <p:nvPr/>
        </p:nvSpPr>
        <p:spPr>
          <a:xfrm>
            <a:off x="6190488" y="3154680"/>
            <a:ext cx="2432304" cy="841248"/>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id, user_id, message, type, lu</a:t>
            </a:r>
            <a:endParaRPr lang="en-US" sz="1000" dirty="0"/>
          </a:p>
        </p:txBody>
      </p:sp>
      <p:sp>
        <p:nvSpPr>
          <p:cNvPr id="28" name="Shape 26"/>
          <p:cNvSpPr/>
          <p:nvPr/>
        </p:nvSpPr>
        <p:spPr>
          <a:xfrm>
            <a:off x="228600" y="4206240"/>
            <a:ext cx="8686800" cy="704088"/>
          </a:xfrm>
          <a:prstGeom prst="rect">
            <a:avLst/>
          </a:prstGeom>
          <a:solidFill>
            <a:srgbClr val="E8F4F8"/>
          </a:solidFill>
          <a:ln w="12700">
            <a:solidFill>
              <a:srgbClr val="2E86AB"/>
            </a:solidFill>
            <a:prstDash val="solid"/>
          </a:ln>
        </p:spPr>
      </p:sp>
      <p:sp>
        <p:nvSpPr>
          <p:cNvPr id="29" name="Text 27"/>
          <p:cNvSpPr/>
          <p:nvPr/>
        </p:nvSpPr>
        <p:spPr>
          <a:xfrm>
            <a:off x="365760" y="4242816"/>
            <a:ext cx="8412480" cy="621792"/>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 Exigences respectées : 1-N (service → tickets) · N-N porteuse (tickets = citoyen × service) · tickets.statut ENUM (généralisation comportementale) · 5+ tables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4. Fonctionnalités par acteur</a:t>
            </a:r>
            <a:endParaRPr lang="en-US" sz="2600" dirty="0"/>
          </a:p>
        </p:txBody>
      </p:sp>
      <p:sp>
        <p:nvSpPr>
          <p:cNvPr id="4" name="Shape 2"/>
          <p:cNvSpPr/>
          <p:nvPr/>
        </p:nvSpPr>
        <p:spPr>
          <a:xfrm>
            <a:off x="182880" y="960120"/>
            <a:ext cx="2057400" cy="457200"/>
          </a:xfrm>
          <a:prstGeom prst="rect">
            <a:avLst/>
          </a:prstGeom>
          <a:solidFill>
            <a:srgbClr val="6C757D"/>
          </a:solidFill>
          <a:ln w="12700">
            <a:solidFill>
              <a:srgbClr val="6C757D"/>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182880" y="960120"/>
            <a:ext cx="20574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Visiteur</a:t>
            </a:r>
            <a:endParaRPr lang="en-US" sz="1300" dirty="0"/>
          </a:p>
        </p:txBody>
      </p:sp>
      <p:sp>
        <p:nvSpPr>
          <p:cNvPr id="6" name="Shape 4"/>
          <p:cNvSpPr/>
          <p:nvPr/>
        </p:nvSpPr>
        <p:spPr>
          <a:xfrm>
            <a:off x="182880" y="1444752"/>
            <a:ext cx="2057400" cy="3429000"/>
          </a:xfrm>
          <a:prstGeom prst="rect">
            <a:avLst/>
          </a:prstGeom>
          <a:solidFill>
            <a:srgbClr val="FFFFFF"/>
          </a:solidFill>
          <a:ln w="12700">
            <a:solidFill>
              <a:srgbClr val="6C757D"/>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1536192"/>
            <a:ext cx="256032" cy="256032"/>
          </a:xfrm>
          <a:prstGeom prst="rect">
            <a:avLst/>
          </a:prstGeom>
          <a:solidFill>
            <a:srgbClr val="6C757D"/>
          </a:solidFill>
          <a:ln w="12700">
            <a:solidFill>
              <a:srgbClr val="6C757D"/>
            </a:solidFill>
            <a:prstDash val="solid"/>
          </a:ln>
        </p:spPr>
      </p:sp>
      <p:sp>
        <p:nvSpPr>
          <p:cNvPr id="8" name="Text 6"/>
          <p:cNvSpPr/>
          <p:nvPr/>
        </p:nvSpPr>
        <p:spPr>
          <a:xfrm>
            <a:off x="274320" y="153619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9" name="Text 7"/>
          <p:cNvSpPr/>
          <p:nvPr/>
        </p:nvSpPr>
        <p:spPr>
          <a:xfrm>
            <a:off x="585216" y="150876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Accueil public responsive</a:t>
            </a:r>
            <a:endParaRPr lang="en-US" sz="1100" dirty="0"/>
          </a:p>
        </p:txBody>
      </p:sp>
      <p:sp>
        <p:nvSpPr>
          <p:cNvPr id="10" name="Shape 8"/>
          <p:cNvSpPr/>
          <p:nvPr/>
        </p:nvSpPr>
        <p:spPr>
          <a:xfrm>
            <a:off x="274320" y="2313432"/>
            <a:ext cx="256032" cy="256032"/>
          </a:xfrm>
          <a:prstGeom prst="rect">
            <a:avLst/>
          </a:prstGeom>
          <a:solidFill>
            <a:srgbClr val="6C757D"/>
          </a:solidFill>
          <a:ln w="12700">
            <a:solidFill>
              <a:srgbClr val="6C757D"/>
            </a:solidFill>
            <a:prstDash val="solid"/>
          </a:ln>
        </p:spPr>
      </p:sp>
      <p:sp>
        <p:nvSpPr>
          <p:cNvPr id="11" name="Text 9"/>
          <p:cNvSpPr/>
          <p:nvPr/>
        </p:nvSpPr>
        <p:spPr>
          <a:xfrm>
            <a:off x="274320" y="231343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12" name="Text 10"/>
          <p:cNvSpPr/>
          <p:nvPr/>
        </p:nvSpPr>
        <p:spPr>
          <a:xfrm>
            <a:off x="585216" y="228600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Liste des services + taux de remplissage</a:t>
            </a:r>
            <a:endParaRPr lang="en-US" sz="1100" dirty="0"/>
          </a:p>
        </p:txBody>
      </p:sp>
      <p:sp>
        <p:nvSpPr>
          <p:cNvPr id="13" name="Shape 11"/>
          <p:cNvSpPr/>
          <p:nvPr/>
        </p:nvSpPr>
        <p:spPr>
          <a:xfrm>
            <a:off x="274320" y="3090672"/>
            <a:ext cx="256032" cy="256032"/>
          </a:xfrm>
          <a:prstGeom prst="rect">
            <a:avLst/>
          </a:prstGeom>
          <a:solidFill>
            <a:srgbClr val="6C757D"/>
          </a:solidFill>
          <a:ln w="12700">
            <a:solidFill>
              <a:srgbClr val="6C757D"/>
            </a:solidFill>
            <a:prstDash val="solid"/>
          </a:ln>
        </p:spPr>
      </p:sp>
      <p:sp>
        <p:nvSpPr>
          <p:cNvPr id="14" name="Text 12"/>
          <p:cNvSpPr/>
          <p:nvPr/>
        </p:nvSpPr>
        <p:spPr>
          <a:xfrm>
            <a:off x="274320" y="309067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15" name="Text 13"/>
          <p:cNvSpPr/>
          <p:nvPr/>
        </p:nvSpPr>
        <p:spPr>
          <a:xfrm>
            <a:off x="585216" y="306324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Compteurs animés (JS)</a:t>
            </a:r>
            <a:endParaRPr lang="en-US" sz="1100" dirty="0"/>
          </a:p>
        </p:txBody>
      </p:sp>
      <p:sp>
        <p:nvSpPr>
          <p:cNvPr id="16" name="Shape 14"/>
          <p:cNvSpPr/>
          <p:nvPr/>
        </p:nvSpPr>
        <p:spPr>
          <a:xfrm>
            <a:off x="274320" y="3867912"/>
            <a:ext cx="256032" cy="256032"/>
          </a:xfrm>
          <a:prstGeom prst="rect">
            <a:avLst/>
          </a:prstGeom>
          <a:solidFill>
            <a:srgbClr val="6C757D"/>
          </a:solidFill>
          <a:ln w="12700">
            <a:solidFill>
              <a:srgbClr val="6C757D"/>
            </a:solidFill>
            <a:prstDash val="solid"/>
          </a:ln>
        </p:spPr>
      </p:sp>
      <p:sp>
        <p:nvSpPr>
          <p:cNvPr id="17" name="Text 15"/>
          <p:cNvSpPr/>
          <p:nvPr/>
        </p:nvSpPr>
        <p:spPr>
          <a:xfrm>
            <a:off x="274320" y="386791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18" name="Text 16"/>
          <p:cNvSpPr/>
          <p:nvPr/>
        </p:nvSpPr>
        <p:spPr>
          <a:xfrm>
            <a:off x="585216" y="384048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Recherche instantanée</a:t>
            </a:r>
            <a:endParaRPr lang="en-US" sz="1100" dirty="0"/>
          </a:p>
        </p:txBody>
      </p:sp>
      <p:sp>
        <p:nvSpPr>
          <p:cNvPr id="19" name="Shape 17"/>
          <p:cNvSpPr/>
          <p:nvPr/>
        </p:nvSpPr>
        <p:spPr>
          <a:xfrm>
            <a:off x="2423160" y="960120"/>
            <a:ext cx="2057400" cy="457200"/>
          </a:xfrm>
          <a:prstGeom prst="rect">
            <a:avLst/>
          </a:prstGeom>
          <a:solidFill>
            <a:srgbClr val="2E86AB"/>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2423160" y="960120"/>
            <a:ext cx="20574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Citoyen</a:t>
            </a:r>
            <a:endParaRPr lang="en-US" sz="1300" dirty="0"/>
          </a:p>
        </p:txBody>
      </p:sp>
      <p:sp>
        <p:nvSpPr>
          <p:cNvPr id="21" name="Shape 19"/>
          <p:cNvSpPr/>
          <p:nvPr/>
        </p:nvSpPr>
        <p:spPr>
          <a:xfrm>
            <a:off x="2423160" y="1444752"/>
            <a:ext cx="2057400" cy="3429000"/>
          </a:xfrm>
          <a:prstGeom prst="rect">
            <a:avLst/>
          </a:prstGeom>
          <a:solidFill>
            <a:srgbClr val="FFFFFF"/>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2514600" y="1536192"/>
            <a:ext cx="256032" cy="256032"/>
          </a:xfrm>
          <a:prstGeom prst="rect">
            <a:avLst/>
          </a:prstGeom>
          <a:solidFill>
            <a:srgbClr val="2E86AB"/>
          </a:solidFill>
          <a:ln w="12700">
            <a:solidFill>
              <a:srgbClr val="2E86AB"/>
            </a:solidFill>
            <a:prstDash val="solid"/>
          </a:ln>
        </p:spPr>
      </p:sp>
      <p:sp>
        <p:nvSpPr>
          <p:cNvPr id="23" name="Text 21"/>
          <p:cNvSpPr/>
          <p:nvPr/>
        </p:nvSpPr>
        <p:spPr>
          <a:xfrm>
            <a:off x="2514600" y="153619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24" name="Text 22"/>
          <p:cNvSpPr/>
          <p:nvPr/>
        </p:nvSpPr>
        <p:spPr>
          <a:xfrm>
            <a:off x="2825496" y="150876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Inscription / Connexion</a:t>
            </a:r>
            <a:endParaRPr lang="en-US" sz="1100" dirty="0"/>
          </a:p>
        </p:txBody>
      </p:sp>
      <p:sp>
        <p:nvSpPr>
          <p:cNvPr id="25" name="Shape 23"/>
          <p:cNvSpPr/>
          <p:nvPr/>
        </p:nvSpPr>
        <p:spPr>
          <a:xfrm>
            <a:off x="2514600" y="2313432"/>
            <a:ext cx="256032" cy="256032"/>
          </a:xfrm>
          <a:prstGeom prst="rect">
            <a:avLst/>
          </a:prstGeom>
          <a:solidFill>
            <a:srgbClr val="2E86AB"/>
          </a:solidFill>
          <a:ln w="12700">
            <a:solidFill>
              <a:srgbClr val="2E86AB"/>
            </a:solidFill>
            <a:prstDash val="solid"/>
          </a:ln>
        </p:spPr>
      </p:sp>
      <p:sp>
        <p:nvSpPr>
          <p:cNvPr id="26" name="Text 24"/>
          <p:cNvSpPr/>
          <p:nvPr/>
        </p:nvSpPr>
        <p:spPr>
          <a:xfrm>
            <a:off x="2514600" y="231343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27" name="Text 25"/>
          <p:cNvSpPr/>
          <p:nvPr/>
        </p:nvSpPr>
        <p:spPr>
          <a:xfrm>
            <a:off x="2825496" y="228600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Prise de ticket en ligne</a:t>
            </a:r>
            <a:endParaRPr lang="en-US" sz="1100" dirty="0"/>
          </a:p>
        </p:txBody>
      </p:sp>
      <p:sp>
        <p:nvSpPr>
          <p:cNvPr id="28" name="Shape 26"/>
          <p:cNvSpPr/>
          <p:nvPr/>
        </p:nvSpPr>
        <p:spPr>
          <a:xfrm>
            <a:off x="2514600" y="3090672"/>
            <a:ext cx="256032" cy="256032"/>
          </a:xfrm>
          <a:prstGeom prst="rect">
            <a:avLst/>
          </a:prstGeom>
          <a:solidFill>
            <a:srgbClr val="2E86AB"/>
          </a:solidFill>
          <a:ln w="12700">
            <a:solidFill>
              <a:srgbClr val="2E86AB"/>
            </a:solidFill>
            <a:prstDash val="solid"/>
          </a:ln>
        </p:spPr>
      </p:sp>
      <p:sp>
        <p:nvSpPr>
          <p:cNvPr id="29" name="Text 27"/>
          <p:cNvSpPr/>
          <p:nvPr/>
        </p:nvSpPr>
        <p:spPr>
          <a:xfrm>
            <a:off x="2514600" y="309067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30" name="Text 28"/>
          <p:cNvSpPr/>
          <p:nvPr/>
        </p:nvSpPr>
        <p:spPr>
          <a:xfrm>
            <a:off x="2825496" y="306324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Suivi position + minuteur live</a:t>
            </a:r>
            <a:endParaRPr lang="en-US" sz="1100" dirty="0"/>
          </a:p>
        </p:txBody>
      </p:sp>
      <p:sp>
        <p:nvSpPr>
          <p:cNvPr id="31" name="Shape 29"/>
          <p:cNvSpPr/>
          <p:nvPr/>
        </p:nvSpPr>
        <p:spPr>
          <a:xfrm>
            <a:off x="2514600" y="3867912"/>
            <a:ext cx="256032" cy="256032"/>
          </a:xfrm>
          <a:prstGeom prst="rect">
            <a:avLst/>
          </a:prstGeom>
          <a:solidFill>
            <a:srgbClr val="2E86AB"/>
          </a:solidFill>
          <a:ln w="12700">
            <a:solidFill>
              <a:srgbClr val="2E86AB"/>
            </a:solidFill>
            <a:prstDash val="solid"/>
          </a:ln>
        </p:spPr>
      </p:sp>
      <p:sp>
        <p:nvSpPr>
          <p:cNvPr id="32" name="Text 30"/>
          <p:cNvSpPr/>
          <p:nvPr/>
        </p:nvSpPr>
        <p:spPr>
          <a:xfrm>
            <a:off x="2514600" y="386791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33" name="Text 31"/>
          <p:cNvSpPr/>
          <p:nvPr/>
        </p:nvSpPr>
        <p:spPr>
          <a:xfrm>
            <a:off x="2825496" y="384048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Évaluation du service</a:t>
            </a:r>
            <a:endParaRPr lang="en-US" sz="1100" dirty="0"/>
          </a:p>
        </p:txBody>
      </p:sp>
      <p:sp>
        <p:nvSpPr>
          <p:cNvPr id="34" name="Shape 32"/>
          <p:cNvSpPr/>
          <p:nvPr/>
        </p:nvSpPr>
        <p:spPr>
          <a:xfrm>
            <a:off x="4663440" y="960120"/>
            <a:ext cx="2057400" cy="457200"/>
          </a:xfrm>
          <a:prstGeom prst="rect">
            <a:avLst/>
          </a:prstGeom>
          <a:solidFill>
            <a:srgbClr val="1E3A5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35" name="Text 33"/>
          <p:cNvSpPr/>
          <p:nvPr/>
        </p:nvSpPr>
        <p:spPr>
          <a:xfrm>
            <a:off x="4663440" y="960120"/>
            <a:ext cx="20574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Agent</a:t>
            </a:r>
            <a:endParaRPr lang="en-US" sz="1300" dirty="0"/>
          </a:p>
        </p:txBody>
      </p:sp>
      <p:sp>
        <p:nvSpPr>
          <p:cNvPr id="36" name="Shape 34"/>
          <p:cNvSpPr/>
          <p:nvPr/>
        </p:nvSpPr>
        <p:spPr>
          <a:xfrm>
            <a:off x="4663440" y="1444752"/>
            <a:ext cx="2057400" cy="3429000"/>
          </a:xfrm>
          <a:prstGeom prst="rect">
            <a:avLst/>
          </a:prstGeom>
          <a:solidFill>
            <a:srgbClr val="FFFFF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4754880" y="1536192"/>
            <a:ext cx="256032" cy="256032"/>
          </a:xfrm>
          <a:prstGeom prst="rect">
            <a:avLst/>
          </a:prstGeom>
          <a:solidFill>
            <a:srgbClr val="1E3A5F"/>
          </a:solidFill>
          <a:ln w="12700">
            <a:solidFill>
              <a:srgbClr val="1E3A5F"/>
            </a:solidFill>
            <a:prstDash val="solid"/>
          </a:ln>
        </p:spPr>
      </p:sp>
      <p:sp>
        <p:nvSpPr>
          <p:cNvPr id="38" name="Text 36"/>
          <p:cNvSpPr/>
          <p:nvPr/>
        </p:nvSpPr>
        <p:spPr>
          <a:xfrm>
            <a:off x="4754880" y="153619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39" name="Text 37"/>
          <p:cNvSpPr/>
          <p:nvPr/>
        </p:nvSpPr>
        <p:spPr>
          <a:xfrm>
            <a:off x="5065776" y="150876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Dashboard guichet</a:t>
            </a:r>
            <a:endParaRPr lang="en-US" sz="1100" dirty="0"/>
          </a:p>
        </p:txBody>
      </p:sp>
      <p:sp>
        <p:nvSpPr>
          <p:cNvPr id="40" name="Shape 38"/>
          <p:cNvSpPr/>
          <p:nvPr/>
        </p:nvSpPr>
        <p:spPr>
          <a:xfrm>
            <a:off x="4754880" y="2313432"/>
            <a:ext cx="256032" cy="256032"/>
          </a:xfrm>
          <a:prstGeom prst="rect">
            <a:avLst/>
          </a:prstGeom>
          <a:solidFill>
            <a:srgbClr val="1E3A5F"/>
          </a:solidFill>
          <a:ln w="12700">
            <a:solidFill>
              <a:srgbClr val="1E3A5F"/>
            </a:solidFill>
            <a:prstDash val="solid"/>
          </a:ln>
        </p:spPr>
      </p:sp>
      <p:sp>
        <p:nvSpPr>
          <p:cNvPr id="41" name="Text 39"/>
          <p:cNvSpPr/>
          <p:nvPr/>
        </p:nvSpPr>
        <p:spPr>
          <a:xfrm>
            <a:off x="4754880" y="231343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42" name="Text 40"/>
          <p:cNvSpPr/>
          <p:nvPr/>
        </p:nvSpPr>
        <p:spPr>
          <a:xfrm>
            <a:off x="5065776" y="228600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Appel ticket suivant</a:t>
            </a:r>
            <a:endParaRPr lang="en-US" sz="1100" dirty="0"/>
          </a:p>
        </p:txBody>
      </p:sp>
      <p:sp>
        <p:nvSpPr>
          <p:cNvPr id="43" name="Shape 41"/>
          <p:cNvSpPr/>
          <p:nvPr/>
        </p:nvSpPr>
        <p:spPr>
          <a:xfrm>
            <a:off x="4754880" y="3090672"/>
            <a:ext cx="256032" cy="256032"/>
          </a:xfrm>
          <a:prstGeom prst="rect">
            <a:avLst/>
          </a:prstGeom>
          <a:solidFill>
            <a:srgbClr val="1E3A5F"/>
          </a:solidFill>
          <a:ln w="12700">
            <a:solidFill>
              <a:srgbClr val="1E3A5F"/>
            </a:solidFill>
            <a:prstDash val="solid"/>
          </a:ln>
        </p:spPr>
      </p:sp>
      <p:sp>
        <p:nvSpPr>
          <p:cNvPr id="44" name="Text 42"/>
          <p:cNvSpPr/>
          <p:nvPr/>
        </p:nvSpPr>
        <p:spPr>
          <a:xfrm>
            <a:off x="4754880" y="309067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45" name="Text 43"/>
          <p:cNvSpPr/>
          <p:nvPr/>
        </p:nvSpPr>
        <p:spPr>
          <a:xfrm>
            <a:off x="5065776" y="306324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Gestion statuts (7 états)</a:t>
            </a:r>
            <a:endParaRPr lang="en-US" sz="1100" dirty="0"/>
          </a:p>
        </p:txBody>
      </p:sp>
      <p:sp>
        <p:nvSpPr>
          <p:cNvPr id="46" name="Shape 44"/>
          <p:cNvSpPr/>
          <p:nvPr/>
        </p:nvSpPr>
        <p:spPr>
          <a:xfrm>
            <a:off x="4754880" y="3867912"/>
            <a:ext cx="256032" cy="256032"/>
          </a:xfrm>
          <a:prstGeom prst="rect">
            <a:avLst/>
          </a:prstGeom>
          <a:solidFill>
            <a:srgbClr val="1E3A5F"/>
          </a:solidFill>
          <a:ln w="12700">
            <a:solidFill>
              <a:srgbClr val="1E3A5F"/>
            </a:solidFill>
            <a:prstDash val="solid"/>
          </a:ln>
        </p:spPr>
      </p:sp>
      <p:sp>
        <p:nvSpPr>
          <p:cNvPr id="47" name="Text 45"/>
          <p:cNvSpPr/>
          <p:nvPr/>
        </p:nvSpPr>
        <p:spPr>
          <a:xfrm>
            <a:off x="4754880" y="386791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48" name="Text 46"/>
          <p:cNvSpPr/>
          <p:nvPr/>
        </p:nvSpPr>
        <p:spPr>
          <a:xfrm>
            <a:off x="5065776" y="384048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Timer en service live</a:t>
            </a:r>
            <a:endParaRPr lang="en-US" sz="1100" dirty="0"/>
          </a:p>
        </p:txBody>
      </p:sp>
      <p:sp>
        <p:nvSpPr>
          <p:cNvPr id="49" name="Shape 47"/>
          <p:cNvSpPr/>
          <p:nvPr/>
        </p:nvSpPr>
        <p:spPr>
          <a:xfrm>
            <a:off x="6903720" y="960120"/>
            <a:ext cx="2057400" cy="457200"/>
          </a:xfrm>
          <a:prstGeom prst="rect">
            <a:avLst/>
          </a:prstGeom>
          <a:solidFill>
            <a:srgbClr val="198754"/>
          </a:solidFill>
          <a:ln w="12700">
            <a:solidFill>
              <a:srgbClr val="198754"/>
            </a:solidFill>
            <a:prstDash val="solid"/>
          </a:ln>
          <a:effectLst>
            <a:outerShdw sx="100000" sy="100000" kx="0" ky="0" algn="bl" rotWithShape="0" blurRad="101600" dist="38100" dir="8100000">
              <a:srgbClr val="000000">
                <a:alpha val="18000"/>
              </a:srgbClr>
            </a:outerShdw>
          </a:effectLst>
        </p:spPr>
      </p:sp>
      <p:sp>
        <p:nvSpPr>
          <p:cNvPr id="50" name="Text 48"/>
          <p:cNvSpPr/>
          <p:nvPr/>
        </p:nvSpPr>
        <p:spPr>
          <a:xfrm>
            <a:off x="6903720" y="960120"/>
            <a:ext cx="20574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Admin</a:t>
            </a:r>
            <a:endParaRPr lang="en-US" sz="1300" dirty="0"/>
          </a:p>
        </p:txBody>
      </p:sp>
      <p:sp>
        <p:nvSpPr>
          <p:cNvPr id="51" name="Shape 49"/>
          <p:cNvSpPr/>
          <p:nvPr/>
        </p:nvSpPr>
        <p:spPr>
          <a:xfrm>
            <a:off x="6903720" y="1444752"/>
            <a:ext cx="2057400" cy="3429000"/>
          </a:xfrm>
          <a:prstGeom prst="rect">
            <a:avLst/>
          </a:prstGeom>
          <a:solidFill>
            <a:srgbClr val="FFFFFF"/>
          </a:solidFill>
          <a:ln w="12700">
            <a:solidFill>
              <a:srgbClr val="198754"/>
            </a:solidFill>
            <a:prstDash val="solid"/>
          </a:ln>
          <a:effectLst>
            <a:outerShdw sx="100000" sy="100000" kx="0" ky="0" algn="bl" rotWithShape="0" blurRad="101600" dist="38100" dir="8100000">
              <a:srgbClr val="000000">
                <a:alpha val="18000"/>
              </a:srgbClr>
            </a:outerShdw>
          </a:effectLst>
        </p:spPr>
      </p:sp>
      <p:sp>
        <p:nvSpPr>
          <p:cNvPr id="52" name="Shape 50"/>
          <p:cNvSpPr/>
          <p:nvPr/>
        </p:nvSpPr>
        <p:spPr>
          <a:xfrm>
            <a:off x="6995160" y="1536192"/>
            <a:ext cx="256032" cy="256032"/>
          </a:xfrm>
          <a:prstGeom prst="rect">
            <a:avLst/>
          </a:prstGeom>
          <a:solidFill>
            <a:srgbClr val="198754"/>
          </a:solidFill>
          <a:ln w="12700">
            <a:solidFill>
              <a:srgbClr val="198754"/>
            </a:solidFill>
            <a:prstDash val="solid"/>
          </a:ln>
        </p:spPr>
      </p:sp>
      <p:sp>
        <p:nvSpPr>
          <p:cNvPr id="53" name="Text 51"/>
          <p:cNvSpPr/>
          <p:nvPr/>
        </p:nvSpPr>
        <p:spPr>
          <a:xfrm>
            <a:off x="6995160" y="153619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54" name="Text 52"/>
          <p:cNvSpPr/>
          <p:nvPr/>
        </p:nvSpPr>
        <p:spPr>
          <a:xfrm>
            <a:off x="7306056" y="150876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CRUD services, guichets</a:t>
            </a:r>
            <a:endParaRPr lang="en-US" sz="1100" dirty="0"/>
          </a:p>
        </p:txBody>
      </p:sp>
      <p:sp>
        <p:nvSpPr>
          <p:cNvPr id="55" name="Shape 53"/>
          <p:cNvSpPr/>
          <p:nvPr/>
        </p:nvSpPr>
        <p:spPr>
          <a:xfrm>
            <a:off x="6995160" y="2313432"/>
            <a:ext cx="256032" cy="256032"/>
          </a:xfrm>
          <a:prstGeom prst="rect">
            <a:avLst/>
          </a:prstGeom>
          <a:solidFill>
            <a:srgbClr val="198754"/>
          </a:solidFill>
          <a:ln w="12700">
            <a:solidFill>
              <a:srgbClr val="198754"/>
            </a:solidFill>
            <a:prstDash val="solid"/>
          </a:ln>
        </p:spPr>
      </p:sp>
      <p:sp>
        <p:nvSpPr>
          <p:cNvPr id="56" name="Text 54"/>
          <p:cNvSpPr/>
          <p:nvPr/>
        </p:nvSpPr>
        <p:spPr>
          <a:xfrm>
            <a:off x="6995160" y="231343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57" name="Text 55"/>
          <p:cNvSpPr/>
          <p:nvPr/>
        </p:nvSpPr>
        <p:spPr>
          <a:xfrm>
            <a:off x="7306056" y="228600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Gestion utilisateurs</a:t>
            </a:r>
            <a:endParaRPr lang="en-US" sz="1100" dirty="0"/>
          </a:p>
        </p:txBody>
      </p:sp>
      <p:sp>
        <p:nvSpPr>
          <p:cNvPr id="58" name="Shape 56"/>
          <p:cNvSpPr/>
          <p:nvPr/>
        </p:nvSpPr>
        <p:spPr>
          <a:xfrm>
            <a:off x="6995160" y="3090672"/>
            <a:ext cx="256032" cy="256032"/>
          </a:xfrm>
          <a:prstGeom prst="rect">
            <a:avLst/>
          </a:prstGeom>
          <a:solidFill>
            <a:srgbClr val="198754"/>
          </a:solidFill>
          <a:ln w="12700">
            <a:solidFill>
              <a:srgbClr val="198754"/>
            </a:solidFill>
            <a:prstDash val="solid"/>
          </a:ln>
        </p:spPr>
      </p:sp>
      <p:sp>
        <p:nvSpPr>
          <p:cNvPr id="59" name="Text 57"/>
          <p:cNvSpPr/>
          <p:nvPr/>
        </p:nvSpPr>
        <p:spPr>
          <a:xfrm>
            <a:off x="6995160" y="309067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60" name="Text 58"/>
          <p:cNvSpPr/>
          <p:nvPr/>
        </p:nvSpPr>
        <p:spPr>
          <a:xfrm>
            <a:off x="7306056" y="306324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Tickets + recherche temps réel</a:t>
            </a:r>
            <a:endParaRPr lang="en-US" sz="1100" dirty="0"/>
          </a:p>
        </p:txBody>
      </p:sp>
      <p:sp>
        <p:nvSpPr>
          <p:cNvPr id="61" name="Shape 59"/>
          <p:cNvSpPr/>
          <p:nvPr/>
        </p:nvSpPr>
        <p:spPr>
          <a:xfrm>
            <a:off x="6995160" y="3867912"/>
            <a:ext cx="256032" cy="256032"/>
          </a:xfrm>
          <a:prstGeom prst="rect">
            <a:avLst/>
          </a:prstGeom>
          <a:solidFill>
            <a:srgbClr val="198754"/>
          </a:solidFill>
          <a:ln w="12700">
            <a:solidFill>
              <a:srgbClr val="198754"/>
            </a:solidFill>
            <a:prstDash val="solid"/>
          </a:ln>
        </p:spPr>
      </p:sp>
      <p:sp>
        <p:nvSpPr>
          <p:cNvPr id="62" name="Text 60"/>
          <p:cNvSpPr/>
          <p:nvPr/>
        </p:nvSpPr>
        <p:spPr>
          <a:xfrm>
            <a:off x="6995160" y="3867912"/>
            <a:ext cx="256032" cy="256032"/>
          </a:xfrm>
          <a:prstGeom prst="rect">
            <a:avLst/>
          </a:prstGeom>
          <a:noFill/>
          <a:ln/>
        </p:spPr>
        <p:txBody>
          <a:bodyPr wrap="square" lIns="0" tIns="0" rIns="0" bIns="0" rtlCol="0" anchor="ctr"/>
          <a:lstStyle/>
          <a:p>
            <a:pPr algn="ctr" indent="0" marL="0">
              <a:buNone/>
            </a:pPr>
            <a:r>
              <a:rPr lang="en-US" sz="1000" dirty="0">
                <a:solidFill>
                  <a:srgbClr val="FFFFFF"/>
                </a:solidFill>
              </a:rPr>
              <a:t>✓</a:t>
            </a:r>
            <a:endParaRPr lang="en-US" sz="1000" dirty="0"/>
          </a:p>
        </p:txBody>
      </p:sp>
      <p:sp>
        <p:nvSpPr>
          <p:cNvPr id="63" name="Text 61"/>
          <p:cNvSpPr/>
          <p:nvPr/>
        </p:nvSpPr>
        <p:spPr>
          <a:xfrm>
            <a:off x="7306056" y="3840480"/>
            <a:ext cx="1600200" cy="5029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Stats &amp; graphiques Chart.js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5. Enrichissements JavaScript &amp; Bootstrap 5</a:t>
            </a:r>
            <a:endParaRPr lang="en-US" sz="2400" dirty="0"/>
          </a:p>
        </p:txBody>
      </p:sp>
      <p:sp>
        <p:nvSpPr>
          <p:cNvPr id="4" name="Shape 2"/>
          <p:cNvSpPr/>
          <p:nvPr/>
        </p:nvSpPr>
        <p:spPr>
          <a:xfrm>
            <a:off x="182880" y="960120"/>
            <a:ext cx="1965960" cy="1737360"/>
          </a:xfrm>
          <a:prstGeom prst="rect">
            <a:avLst/>
          </a:prstGeom>
          <a:solidFill>
            <a:srgbClr val="FFFFF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182880" y="960120"/>
            <a:ext cx="1965960" cy="384048"/>
          </a:xfrm>
          <a:prstGeom prst="rect">
            <a:avLst/>
          </a:prstGeom>
          <a:solidFill>
            <a:srgbClr val="1E3A5F"/>
          </a:solidFill>
          <a:ln w="12700">
            <a:solidFill>
              <a:srgbClr val="1E3A5F"/>
            </a:solidFill>
            <a:prstDash val="solid"/>
          </a:ln>
        </p:spPr>
      </p:sp>
      <p:sp>
        <p:nvSpPr>
          <p:cNvPr id="6" name="Text 4"/>
          <p:cNvSpPr/>
          <p:nvPr/>
        </p:nvSpPr>
        <p:spPr>
          <a:xfrm>
            <a:off x="256032" y="96012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Toasts Bootstrap</a:t>
            </a:r>
            <a:endParaRPr lang="en-US" sz="1200" dirty="0"/>
          </a:p>
        </p:txBody>
      </p:sp>
      <p:sp>
        <p:nvSpPr>
          <p:cNvPr id="7" name="Text 5"/>
          <p:cNvSpPr/>
          <p:nvPr/>
        </p:nvSpPr>
        <p:spPr>
          <a:xfrm>
            <a:off x="274320" y="141732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Notifications programmables</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(succès, erreur, info)</a:t>
            </a:r>
            <a:endParaRPr lang="en-US" sz="1100" dirty="0"/>
          </a:p>
        </p:txBody>
      </p:sp>
      <p:sp>
        <p:nvSpPr>
          <p:cNvPr id="8" name="Shape 6"/>
          <p:cNvSpPr/>
          <p:nvPr/>
        </p:nvSpPr>
        <p:spPr>
          <a:xfrm>
            <a:off x="2377440" y="960120"/>
            <a:ext cx="1965960" cy="1737360"/>
          </a:xfrm>
          <a:prstGeom prst="rect">
            <a:avLst/>
          </a:prstGeom>
          <a:solidFill>
            <a:srgbClr val="FFFFFF"/>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2377440" y="960120"/>
            <a:ext cx="1965960" cy="384048"/>
          </a:xfrm>
          <a:prstGeom prst="rect">
            <a:avLst/>
          </a:prstGeom>
          <a:solidFill>
            <a:srgbClr val="2E86AB"/>
          </a:solidFill>
          <a:ln w="12700">
            <a:solidFill>
              <a:srgbClr val="2E86AB"/>
            </a:solidFill>
            <a:prstDash val="solid"/>
          </a:ln>
        </p:spPr>
      </p:sp>
      <p:sp>
        <p:nvSpPr>
          <p:cNvPr id="10" name="Text 8"/>
          <p:cNvSpPr/>
          <p:nvPr/>
        </p:nvSpPr>
        <p:spPr>
          <a:xfrm>
            <a:off x="2450592" y="96012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Compteurs animés</a:t>
            </a:r>
            <a:endParaRPr lang="en-US" sz="1200" dirty="0"/>
          </a:p>
        </p:txBody>
      </p:sp>
      <p:sp>
        <p:nvSpPr>
          <p:cNvPr id="11" name="Text 9"/>
          <p:cNvSpPr/>
          <p:nvPr/>
        </p:nvSpPr>
        <p:spPr>
          <a:xfrm>
            <a:off x="2468880" y="141732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requestAnimationFrame</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(60 FPS)</a:t>
            </a:r>
            <a:endParaRPr lang="en-US" sz="1100" dirty="0"/>
          </a:p>
        </p:txBody>
      </p:sp>
      <p:sp>
        <p:nvSpPr>
          <p:cNvPr id="12" name="Shape 10"/>
          <p:cNvSpPr/>
          <p:nvPr/>
        </p:nvSpPr>
        <p:spPr>
          <a:xfrm>
            <a:off x="4572000" y="960120"/>
            <a:ext cx="1965960" cy="1737360"/>
          </a:xfrm>
          <a:prstGeom prst="rect">
            <a:avLst/>
          </a:prstGeom>
          <a:solidFill>
            <a:srgbClr val="FFFFFF"/>
          </a:solidFill>
          <a:ln w="12700">
            <a:solidFill>
              <a:srgbClr val="198754"/>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572000" y="960120"/>
            <a:ext cx="1965960" cy="384048"/>
          </a:xfrm>
          <a:prstGeom prst="rect">
            <a:avLst/>
          </a:prstGeom>
          <a:solidFill>
            <a:srgbClr val="198754"/>
          </a:solidFill>
          <a:ln w="12700">
            <a:solidFill>
              <a:srgbClr val="198754"/>
            </a:solidFill>
            <a:prstDash val="solid"/>
          </a:ln>
        </p:spPr>
      </p:sp>
      <p:sp>
        <p:nvSpPr>
          <p:cNvPr id="14" name="Text 12"/>
          <p:cNvSpPr/>
          <p:nvPr/>
        </p:nvSpPr>
        <p:spPr>
          <a:xfrm>
            <a:off x="4645152" y="96012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Minuteurs live</a:t>
            </a:r>
            <a:endParaRPr lang="en-US" sz="1200" dirty="0"/>
          </a:p>
        </p:txBody>
      </p:sp>
      <p:sp>
        <p:nvSpPr>
          <p:cNvPr id="15" name="Text 13"/>
          <p:cNvSpPr/>
          <p:nvPr/>
        </p:nvSpPr>
        <p:spPr>
          <a:xfrm>
            <a:off x="4663440" y="141732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Tickets en cours</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(setInterval 1s)</a:t>
            </a:r>
            <a:endParaRPr lang="en-US" sz="1100" dirty="0"/>
          </a:p>
        </p:txBody>
      </p:sp>
      <p:sp>
        <p:nvSpPr>
          <p:cNvPr id="16" name="Shape 14"/>
          <p:cNvSpPr/>
          <p:nvPr/>
        </p:nvSpPr>
        <p:spPr>
          <a:xfrm>
            <a:off x="6766560" y="960120"/>
            <a:ext cx="1965960" cy="1737360"/>
          </a:xfrm>
          <a:prstGeom prst="rect">
            <a:avLst/>
          </a:prstGeom>
          <a:solidFill>
            <a:srgbClr val="FFFFFF"/>
          </a:solidFill>
          <a:ln w="12700">
            <a:solidFill>
              <a:srgbClr val="9B5094"/>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6766560" y="960120"/>
            <a:ext cx="1965960" cy="384048"/>
          </a:xfrm>
          <a:prstGeom prst="rect">
            <a:avLst/>
          </a:prstGeom>
          <a:solidFill>
            <a:srgbClr val="9B5094"/>
          </a:solidFill>
          <a:ln w="12700">
            <a:solidFill>
              <a:srgbClr val="9B5094"/>
            </a:solidFill>
            <a:prstDash val="solid"/>
          </a:ln>
        </p:spPr>
      </p:sp>
      <p:sp>
        <p:nvSpPr>
          <p:cNvPr id="18" name="Text 16"/>
          <p:cNvSpPr/>
          <p:nvPr/>
        </p:nvSpPr>
        <p:spPr>
          <a:xfrm>
            <a:off x="6839712" y="96012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Recherche temps réel</a:t>
            </a:r>
            <a:endParaRPr lang="en-US" sz="1200" dirty="0"/>
          </a:p>
        </p:txBody>
      </p:sp>
      <p:sp>
        <p:nvSpPr>
          <p:cNvPr id="19" name="Text 17"/>
          <p:cNvSpPr/>
          <p:nvPr/>
        </p:nvSpPr>
        <p:spPr>
          <a:xfrm>
            <a:off x="6858000" y="141732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Filtrage + surbrillance</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(sans rechargement)</a:t>
            </a:r>
            <a:endParaRPr lang="en-US" sz="1100" dirty="0"/>
          </a:p>
        </p:txBody>
      </p:sp>
      <p:sp>
        <p:nvSpPr>
          <p:cNvPr id="20" name="Shape 18"/>
          <p:cNvSpPr/>
          <p:nvPr/>
        </p:nvSpPr>
        <p:spPr>
          <a:xfrm>
            <a:off x="182880" y="2926080"/>
            <a:ext cx="1965960" cy="1737360"/>
          </a:xfrm>
          <a:prstGeom prst="rect">
            <a:avLst/>
          </a:prstGeom>
          <a:solidFill>
            <a:srgbClr val="FFFFFF"/>
          </a:solidFill>
          <a:ln w="12700">
            <a:solidFill>
              <a:srgbClr val="FFC107"/>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182880" y="2926080"/>
            <a:ext cx="1965960" cy="384048"/>
          </a:xfrm>
          <a:prstGeom prst="rect">
            <a:avLst/>
          </a:prstGeom>
          <a:solidFill>
            <a:srgbClr val="FFC107"/>
          </a:solidFill>
          <a:ln w="12700">
            <a:solidFill>
              <a:srgbClr val="FFC107"/>
            </a:solidFill>
            <a:prstDash val="solid"/>
          </a:ln>
        </p:spPr>
      </p:sp>
      <p:sp>
        <p:nvSpPr>
          <p:cNvPr id="22" name="Text 20"/>
          <p:cNvSpPr/>
          <p:nvPr/>
        </p:nvSpPr>
        <p:spPr>
          <a:xfrm>
            <a:off x="256032" y="292608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Validation formulaires</a:t>
            </a:r>
            <a:endParaRPr lang="en-US" sz="1200" dirty="0"/>
          </a:p>
        </p:txBody>
      </p:sp>
      <p:sp>
        <p:nvSpPr>
          <p:cNvPr id="23" name="Text 21"/>
          <p:cNvSpPr/>
          <p:nvPr/>
        </p:nvSpPr>
        <p:spPr>
          <a:xfrm>
            <a:off x="274320" y="338328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Bootstrap was-validated</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 animation shake</a:t>
            </a:r>
            <a:endParaRPr lang="en-US" sz="1100" dirty="0"/>
          </a:p>
        </p:txBody>
      </p:sp>
      <p:sp>
        <p:nvSpPr>
          <p:cNvPr id="24" name="Shape 22"/>
          <p:cNvSpPr/>
          <p:nvPr/>
        </p:nvSpPr>
        <p:spPr>
          <a:xfrm>
            <a:off x="2377440" y="2926080"/>
            <a:ext cx="1965960" cy="1737360"/>
          </a:xfrm>
          <a:prstGeom prst="rect">
            <a:avLst/>
          </a:prstGeom>
          <a:solidFill>
            <a:srgbClr val="FFFFFF"/>
          </a:solidFill>
          <a:ln w="12700">
            <a:solidFill>
              <a:srgbClr val="DC3545"/>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2377440" y="2926080"/>
            <a:ext cx="1965960" cy="384048"/>
          </a:xfrm>
          <a:prstGeom prst="rect">
            <a:avLst/>
          </a:prstGeom>
          <a:solidFill>
            <a:srgbClr val="DC3545"/>
          </a:solidFill>
          <a:ln w="12700">
            <a:solidFill>
              <a:srgbClr val="DC3545"/>
            </a:solidFill>
            <a:prstDash val="solid"/>
          </a:ln>
        </p:spPr>
      </p:sp>
      <p:sp>
        <p:nvSpPr>
          <p:cNvPr id="26" name="Text 24"/>
          <p:cNvSpPr/>
          <p:nvPr/>
        </p:nvSpPr>
        <p:spPr>
          <a:xfrm>
            <a:off x="2450592" y="292608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Modal confirmation</a:t>
            </a:r>
            <a:endParaRPr lang="en-US" sz="1200" dirty="0"/>
          </a:p>
        </p:txBody>
      </p:sp>
      <p:sp>
        <p:nvSpPr>
          <p:cNvPr id="27" name="Text 25"/>
          <p:cNvSpPr/>
          <p:nvPr/>
        </p:nvSpPr>
        <p:spPr>
          <a:xfrm>
            <a:off x="2468880" y="338328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Suppression sécurisée</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(bootstrap.Modal)</a:t>
            </a:r>
            <a:endParaRPr lang="en-US" sz="1100" dirty="0"/>
          </a:p>
        </p:txBody>
      </p:sp>
      <p:sp>
        <p:nvSpPr>
          <p:cNvPr id="28" name="Shape 26"/>
          <p:cNvSpPr/>
          <p:nvPr/>
        </p:nvSpPr>
        <p:spPr>
          <a:xfrm>
            <a:off x="4572000" y="2926080"/>
            <a:ext cx="1965960" cy="1737360"/>
          </a:xfrm>
          <a:prstGeom prst="rect">
            <a:avLst/>
          </a:prstGeom>
          <a:solidFill>
            <a:srgbClr val="FFFFF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4572000" y="2926080"/>
            <a:ext cx="1965960" cy="384048"/>
          </a:xfrm>
          <a:prstGeom prst="rect">
            <a:avLst/>
          </a:prstGeom>
          <a:solidFill>
            <a:srgbClr val="1E3A5F"/>
          </a:solidFill>
          <a:ln w="12700">
            <a:solidFill>
              <a:srgbClr val="1E3A5F"/>
            </a:solidFill>
            <a:prstDash val="solid"/>
          </a:ln>
        </p:spPr>
      </p:sp>
      <p:sp>
        <p:nvSpPr>
          <p:cNvPr id="30" name="Text 28"/>
          <p:cNvSpPr/>
          <p:nvPr/>
        </p:nvSpPr>
        <p:spPr>
          <a:xfrm>
            <a:off x="4645152" y="292608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Barres de progression</a:t>
            </a:r>
            <a:endParaRPr lang="en-US" sz="1200" dirty="0"/>
          </a:p>
        </p:txBody>
      </p:sp>
      <p:sp>
        <p:nvSpPr>
          <p:cNvPr id="31" name="Text 29"/>
          <p:cNvSpPr/>
          <p:nvPr/>
        </p:nvSpPr>
        <p:spPr>
          <a:xfrm>
            <a:off x="4663440" y="338328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Remplissage animé CSS</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(transition width)</a:t>
            </a:r>
            <a:endParaRPr lang="en-US" sz="1100" dirty="0"/>
          </a:p>
        </p:txBody>
      </p:sp>
      <p:sp>
        <p:nvSpPr>
          <p:cNvPr id="32" name="Shape 30"/>
          <p:cNvSpPr/>
          <p:nvPr/>
        </p:nvSpPr>
        <p:spPr>
          <a:xfrm>
            <a:off x="6766560" y="2926080"/>
            <a:ext cx="1965960" cy="1737360"/>
          </a:xfrm>
          <a:prstGeom prst="rect">
            <a:avLst/>
          </a:prstGeom>
          <a:solidFill>
            <a:srgbClr val="FFFFFF"/>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6766560" y="2926080"/>
            <a:ext cx="1965960" cy="384048"/>
          </a:xfrm>
          <a:prstGeom prst="rect">
            <a:avLst/>
          </a:prstGeom>
          <a:solidFill>
            <a:srgbClr val="2E86AB"/>
          </a:solidFill>
          <a:ln w="12700">
            <a:solidFill>
              <a:srgbClr val="2E86AB"/>
            </a:solidFill>
            <a:prstDash val="solid"/>
          </a:ln>
        </p:spPr>
      </p:sp>
      <p:sp>
        <p:nvSpPr>
          <p:cNvPr id="34" name="Text 32"/>
          <p:cNvSpPr/>
          <p:nvPr/>
        </p:nvSpPr>
        <p:spPr>
          <a:xfrm>
            <a:off x="6839712" y="2926080"/>
            <a:ext cx="18288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Rafraîchissement auto</a:t>
            </a:r>
            <a:endParaRPr lang="en-US" sz="1200" dirty="0"/>
          </a:p>
        </p:txBody>
      </p:sp>
      <p:sp>
        <p:nvSpPr>
          <p:cNvPr id="35" name="Text 33"/>
          <p:cNvSpPr/>
          <p:nvPr/>
        </p:nvSpPr>
        <p:spPr>
          <a:xfrm>
            <a:off x="6858000" y="3383280"/>
            <a:ext cx="1783080" cy="1188720"/>
          </a:xfrm>
          <a:prstGeom prst="rect">
            <a:avLst/>
          </a:prstGeom>
          <a:noFill/>
          <a:ln/>
        </p:spPr>
        <p:txBody>
          <a:bodyPr wrap="square" lIns="0" tIns="0" rIns="0" bIns="0" rtlCol="0" anchor="t"/>
          <a:lstStyle/>
          <a:p>
            <a:pPr indent="0" marL="0">
              <a:buNone/>
            </a:pPr>
            <a:r>
              <a:rPr lang="en-US" sz="1100" dirty="0">
                <a:solidFill>
                  <a:srgbClr val="1E3A5F"/>
                </a:solidFill>
                <a:latin typeface="Calibri" pitchFamily="34" charset="0"/>
                <a:ea typeface="Calibri" pitchFamily="34" charset="-122"/>
                <a:cs typeface="Calibri" pitchFamily="34" charset="-120"/>
              </a:rPr>
              <a:t>Fetch API toutes 30s</a:t>
            </a:r>
            <a:endParaRPr lang="en-US" sz="1100" dirty="0"/>
          </a:p>
          <a:p>
            <a:pPr indent="0" marL="0">
              <a:buNone/>
            </a:pPr>
            <a:r>
              <a:rPr lang="en-US" sz="1100" dirty="0">
                <a:solidFill>
                  <a:srgbClr val="1E3A5F"/>
                </a:solidFill>
                <a:latin typeface="Calibri" pitchFamily="34" charset="0"/>
                <a:ea typeface="Calibri" pitchFamily="34" charset="-122"/>
                <a:cs typeface="Calibri" pitchFamily="34" charset="-120"/>
              </a:rPr>
              <a:t>(live queue count)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w="12700">
            <a:solidFill>
              <a:srgbClr val="1E3A5F"/>
            </a:solidFill>
            <a:prstDash val="solid"/>
          </a:ln>
        </p:spPr>
      </p:sp>
      <p:sp>
        <p:nvSpPr>
          <p:cNvPr id="3" name="Text 1"/>
          <p:cNvSpPr/>
          <p:nvPr/>
        </p:nvSpPr>
        <p:spPr>
          <a:xfrm>
            <a:off x="274320" y="0"/>
            <a:ext cx="859536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 Démonstration — Comptes de test</a:t>
            </a:r>
            <a:endParaRPr lang="en-US" sz="2600" dirty="0"/>
          </a:p>
        </p:txBody>
      </p:sp>
      <p:sp>
        <p:nvSpPr>
          <p:cNvPr id="4" name="Text 2"/>
          <p:cNvSpPr/>
          <p:nvPr/>
        </p:nvSpPr>
        <p:spPr>
          <a:xfrm>
            <a:off x="274320" y="960120"/>
            <a:ext cx="8595360" cy="365760"/>
          </a:xfrm>
          <a:prstGeom prst="rect">
            <a:avLst/>
          </a:prstGeom>
          <a:noFill/>
          <a:ln/>
        </p:spPr>
        <p:txBody>
          <a:bodyPr wrap="square" lIns="0" tIns="0" rIns="0" bIns="0" rtlCol="0" anchor="ctr"/>
          <a:lstStyle/>
          <a:p>
            <a:pPr indent="0" marL="0">
              <a:buNone/>
            </a:pPr>
            <a:r>
              <a:rPr lang="en-US" sz="1400" i="1" dirty="0">
                <a:solidFill>
                  <a:srgbClr val="6C8EAD"/>
                </a:solidFill>
                <a:latin typeface="Calibri" pitchFamily="34" charset="0"/>
                <a:ea typeface="Calibri" pitchFamily="34" charset="-122"/>
                <a:cs typeface="Calibri" pitchFamily="34" charset="-120"/>
              </a:rPr>
              <a:t>Mot de passe commun : password</a:t>
            </a:r>
            <a:endParaRPr lang="en-US" sz="1400" dirty="0"/>
          </a:p>
        </p:txBody>
      </p:sp>
      <p:sp>
        <p:nvSpPr>
          <p:cNvPr id="5" name="Shape 3"/>
          <p:cNvSpPr/>
          <p:nvPr/>
        </p:nvSpPr>
        <p:spPr>
          <a:xfrm>
            <a:off x="274320" y="1417320"/>
            <a:ext cx="1371600" cy="548640"/>
          </a:xfrm>
          <a:prstGeom prst="rect">
            <a:avLst/>
          </a:prstGeom>
          <a:solidFill>
            <a:srgbClr val="198754"/>
          </a:solidFill>
          <a:ln w="12700">
            <a:solidFill>
              <a:srgbClr val="198754"/>
            </a:solidFill>
            <a:prstDash val="solid"/>
          </a:ln>
        </p:spPr>
      </p:sp>
      <p:sp>
        <p:nvSpPr>
          <p:cNvPr id="6" name="Text 4"/>
          <p:cNvSpPr/>
          <p:nvPr/>
        </p:nvSpPr>
        <p:spPr>
          <a:xfrm>
            <a:off x="274320" y="1417320"/>
            <a:ext cx="13716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Admin</a:t>
            </a:r>
            <a:endParaRPr lang="en-US" sz="1200" dirty="0"/>
          </a:p>
        </p:txBody>
      </p:sp>
      <p:sp>
        <p:nvSpPr>
          <p:cNvPr id="7" name="Shape 5"/>
          <p:cNvSpPr/>
          <p:nvPr/>
        </p:nvSpPr>
        <p:spPr>
          <a:xfrm>
            <a:off x="1664208" y="1417320"/>
            <a:ext cx="4206240" cy="548640"/>
          </a:xfrm>
          <a:prstGeom prst="rect">
            <a:avLst/>
          </a:prstGeom>
          <a:solidFill>
            <a:srgbClr val="FFFFFF"/>
          </a:solidFill>
          <a:ln w="12700">
            <a:solidFill>
              <a:srgbClr val="198754"/>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1737360" y="1417320"/>
            <a:ext cx="4059936" cy="548640"/>
          </a:xfrm>
          <a:prstGeom prst="rect">
            <a:avLst/>
          </a:prstGeom>
          <a:noFill/>
          <a:ln/>
        </p:spPr>
        <p:txBody>
          <a:bodyPr wrap="square" lIns="0" tIns="0" rIns="0" bIns="0" rtlCol="0" anchor="ctr"/>
          <a:lstStyle/>
          <a:p>
            <a:pPr indent="0" marL="0">
              <a:buNone/>
            </a:pPr>
            <a:r>
              <a:rPr lang="en-US" sz="1300" dirty="0">
                <a:solidFill>
                  <a:srgbClr val="1E3A5F"/>
                </a:solidFill>
                <a:latin typeface="Courier New" pitchFamily="34" charset="0"/>
                <a:ea typeface="Courier New" pitchFamily="34" charset="-122"/>
                <a:cs typeface="Courier New" pitchFamily="34" charset="-120"/>
              </a:rPr>
              <a:t>admin@smartqueue.tn</a:t>
            </a:r>
            <a:endParaRPr lang="en-US" sz="1300" dirty="0"/>
          </a:p>
        </p:txBody>
      </p:sp>
      <p:sp>
        <p:nvSpPr>
          <p:cNvPr id="9" name="Text 7"/>
          <p:cNvSpPr/>
          <p:nvPr/>
        </p:nvSpPr>
        <p:spPr>
          <a:xfrm>
            <a:off x="5897880" y="1417320"/>
            <a:ext cx="3017520" cy="548640"/>
          </a:xfrm>
          <a:prstGeom prst="rect">
            <a:avLst/>
          </a:prstGeom>
          <a:noFill/>
          <a:ln/>
        </p:spPr>
        <p:txBody>
          <a:bodyPr wrap="square" lIns="0" tIns="0" rIns="0" bIns="0" rtlCol="0" anchor="ctr"/>
          <a:lstStyle/>
          <a:p>
            <a:pPr indent="0" marL="0">
              <a:buNone/>
            </a:pPr>
            <a:r>
              <a:rPr lang="en-US" sz="1200" i="1" dirty="0">
                <a:solidFill>
                  <a:srgbClr val="6C8EAD"/>
                </a:solidFill>
                <a:latin typeface="Calibri" pitchFamily="34" charset="0"/>
                <a:ea typeface="Calibri" pitchFamily="34" charset="-122"/>
                <a:cs typeface="Calibri" pitchFamily="34" charset="-120"/>
              </a:rPr>
              <a:t>Accès total</a:t>
            </a:r>
            <a:endParaRPr lang="en-US" sz="1200" dirty="0"/>
          </a:p>
        </p:txBody>
      </p:sp>
      <p:sp>
        <p:nvSpPr>
          <p:cNvPr id="10" name="Shape 8"/>
          <p:cNvSpPr/>
          <p:nvPr/>
        </p:nvSpPr>
        <p:spPr>
          <a:xfrm>
            <a:off x="274320" y="2084832"/>
            <a:ext cx="1371600" cy="548640"/>
          </a:xfrm>
          <a:prstGeom prst="rect">
            <a:avLst/>
          </a:prstGeom>
          <a:solidFill>
            <a:srgbClr val="2E86AB"/>
          </a:solidFill>
          <a:ln w="12700">
            <a:solidFill>
              <a:srgbClr val="2E86AB"/>
            </a:solidFill>
            <a:prstDash val="solid"/>
          </a:ln>
        </p:spPr>
      </p:sp>
      <p:sp>
        <p:nvSpPr>
          <p:cNvPr id="11" name="Text 9"/>
          <p:cNvSpPr/>
          <p:nvPr/>
        </p:nvSpPr>
        <p:spPr>
          <a:xfrm>
            <a:off x="274320" y="2084832"/>
            <a:ext cx="13716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 1</a:t>
            </a:r>
            <a:endParaRPr lang="en-US" sz="1200" dirty="0"/>
          </a:p>
        </p:txBody>
      </p:sp>
      <p:sp>
        <p:nvSpPr>
          <p:cNvPr id="12" name="Shape 10"/>
          <p:cNvSpPr/>
          <p:nvPr/>
        </p:nvSpPr>
        <p:spPr>
          <a:xfrm>
            <a:off x="1664208" y="2084832"/>
            <a:ext cx="4206240" cy="548640"/>
          </a:xfrm>
          <a:prstGeom prst="rect">
            <a:avLst/>
          </a:prstGeom>
          <a:solidFill>
            <a:srgbClr val="FFFFFF"/>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1737360" y="2084832"/>
            <a:ext cx="4059936" cy="548640"/>
          </a:xfrm>
          <a:prstGeom prst="rect">
            <a:avLst/>
          </a:prstGeom>
          <a:noFill/>
          <a:ln/>
        </p:spPr>
        <p:txBody>
          <a:bodyPr wrap="square" lIns="0" tIns="0" rIns="0" bIns="0" rtlCol="0" anchor="ctr"/>
          <a:lstStyle/>
          <a:p>
            <a:pPr indent="0" marL="0">
              <a:buNone/>
            </a:pPr>
            <a:r>
              <a:rPr lang="en-US" sz="1300" dirty="0">
                <a:solidFill>
                  <a:srgbClr val="1E3A5F"/>
                </a:solidFill>
                <a:latin typeface="Courier New" pitchFamily="34" charset="0"/>
                <a:ea typeface="Courier New" pitchFamily="34" charset="-122"/>
                <a:cs typeface="Courier New" pitchFamily="34" charset="-120"/>
              </a:rPr>
              <a:t>agent1@smartqueue.tn</a:t>
            </a:r>
            <a:endParaRPr lang="en-US" sz="1300" dirty="0"/>
          </a:p>
        </p:txBody>
      </p:sp>
      <p:sp>
        <p:nvSpPr>
          <p:cNvPr id="14" name="Text 12"/>
          <p:cNvSpPr/>
          <p:nvPr/>
        </p:nvSpPr>
        <p:spPr>
          <a:xfrm>
            <a:off x="5897880" y="2084832"/>
            <a:ext cx="3017520" cy="548640"/>
          </a:xfrm>
          <a:prstGeom prst="rect">
            <a:avLst/>
          </a:prstGeom>
          <a:noFill/>
          <a:ln/>
        </p:spPr>
        <p:txBody>
          <a:bodyPr wrap="square" lIns="0" tIns="0" rIns="0" bIns="0" rtlCol="0" anchor="ctr"/>
          <a:lstStyle/>
          <a:p>
            <a:pPr indent="0" marL="0">
              <a:buNone/>
            </a:pPr>
            <a:r>
              <a:rPr lang="en-US" sz="1200" i="1" dirty="0">
                <a:solidFill>
                  <a:srgbClr val="6C8EAD"/>
                </a:solidFill>
                <a:latin typeface="Calibri" pitchFamily="34" charset="0"/>
                <a:ea typeface="Calibri" pitchFamily="34" charset="-122"/>
                <a:cs typeface="Calibri" pitchFamily="34" charset="-120"/>
              </a:rPr>
              <a:t>Guichet G-01</a:t>
            </a:r>
            <a:endParaRPr lang="en-US" sz="1200" dirty="0"/>
          </a:p>
        </p:txBody>
      </p:sp>
      <p:sp>
        <p:nvSpPr>
          <p:cNvPr id="15" name="Shape 13"/>
          <p:cNvSpPr/>
          <p:nvPr/>
        </p:nvSpPr>
        <p:spPr>
          <a:xfrm>
            <a:off x="274320" y="2752344"/>
            <a:ext cx="1371600" cy="548640"/>
          </a:xfrm>
          <a:prstGeom prst="rect">
            <a:avLst/>
          </a:prstGeom>
          <a:solidFill>
            <a:srgbClr val="2E86AB"/>
          </a:solidFill>
          <a:ln w="12700">
            <a:solidFill>
              <a:srgbClr val="2E86AB"/>
            </a:solidFill>
            <a:prstDash val="solid"/>
          </a:ln>
        </p:spPr>
      </p:sp>
      <p:sp>
        <p:nvSpPr>
          <p:cNvPr id="16" name="Text 14"/>
          <p:cNvSpPr/>
          <p:nvPr/>
        </p:nvSpPr>
        <p:spPr>
          <a:xfrm>
            <a:off x="274320" y="2752344"/>
            <a:ext cx="13716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 2</a:t>
            </a:r>
            <a:endParaRPr lang="en-US" sz="1200" dirty="0"/>
          </a:p>
        </p:txBody>
      </p:sp>
      <p:sp>
        <p:nvSpPr>
          <p:cNvPr id="17" name="Shape 15"/>
          <p:cNvSpPr/>
          <p:nvPr/>
        </p:nvSpPr>
        <p:spPr>
          <a:xfrm>
            <a:off x="1664208" y="2752344"/>
            <a:ext cx="4206240" cy="548640"/>
          </a:xfrm>
          <a:prstGeom prst="rect">
            <a:avLst/>
          </a:prstGeom>
          <a:solidFill>
            <a:srgbClr val="FFFFFF"/>
          </a:solidFill>
          <a:ln w="12700">
            <a:solidFill>
              <a:srgbClr val="2E86AB"/>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1737360" y="2752344"/>
            <a:ext cx="4059936" cy="548640"/>
          </a:xfrm>
          <a:prstGeom prst="rect">
            <a:avLst/>
          </a:prstGeom>
          <a:noFill/>
          <a:ln/>
        </p:spPr>
        <p:txBody>
          <a:bodyPr wrap="square" lIns="0" tIns="0" rIns="0" bIns="0" rtlCol="0" anchor="ctr"/>
          <a:lstStyle/>
          <a:p>
            <a:pPr indent="0" marL="0">
              <a:buNone/>
            </a:pPr>
            <a:r>
              <a:rPr lang="en-US" sz="1300" dirty="0">
                <a:solidFill>
                  <a:srgbClr val="1E3A5F"/>
                </a:solidFill>
                <a:latin typeface="Courier New" pitchFamily="34" charset="0"/>
                <a:ea typeface="Courier New" pitchFamily="34" charset="-122"/>
                <a:cs typeface="Courier New" pitchFamily="34" charset="-120"/>
              </a:rPr>
              <a:t>agent2@smartqueue.tn</a:t>
            </a:r>
            <a:endParaRPr lang="en-US" sz="1300" dirty="0"/>
          </a:p>
        </p:txBody>
      </p:sp>
      <p:sp>
        <p:nvSpPr>
          <p:cNvPr id="19" name="Text 17"/>
          <p:cNvSpPr/>
          <p:nvPr/>
        </p:nvSpPr>
        <p:spPr>
          <a:xfrm>
            <a:off x="5897880" y="2752344"/>
            <a:ext cx="3017520" cy="548640"/>
          </a:xfrm>
          <a:prstGeom prst="rect">
            <a:avLst/>
          </a:prstGeom>
          <a:noFill/>
          <a:ln/>
        </p:spPr>
        <p:txBody>
          <a:bodyPr wrap="square" lIns="0" tIns="0" rIns="0" bIns="0" rtlCol="0" anchor="ctr"/>
          <a:lstStyle/>
          <a:p>
            <a:pPr indent="0" marL="0">
              <a:buNone/>
            </a:pPr>
            <a:r>
              <a:rPr lang="en-US" sz="1200" i="1" dirty="0">
                <a:solidFill>
                  <a:srgbClr val="6C8EAD"/>
                </a:solidFill>
                <a:latin typeface="Calibri" pitchFamily="34" charset="0"/>
                <a:ea typeface="Calibri" pitchFamily="34" charset="-122"/>
                <a:cs typeface="Calibri" pitchFamily="34" charset="-120"/>
              </a:rPr>
              <a:t>Guichet G-04</a:t>
            </a:r>
            <a:endParaRPr lang="en-US" sz="1200" dirty="0"/>
          </a:p>
        </p:txBody>
      </p:sp>
      <p:sp>
        <p:nvSpPr>
          <p:cNvPr id="20" name="Shape 18"/>
          <p:cNvSpPr/>
          <p:nvPr/>
        </p:nvSpPr>
        <p:spPr>
          <a:xfrm>
            <a:off x="274320" y="3419856"/>
            <a:ext cx="1371600" cy="548640"/>
          </a:xfrm>
          <a:prstGeom prst="rect">
            <a:avLst/>
          </a:prstGeom>
          <a:solidFill>
            <a:srgbClr val="1E3A5F"/>
          </a:solidFill>
          <a:ln w="12700">
            <a:solidFill>
              <a:srgbClr val="1E3A5F"/>
            </a:solidFill>
            <a:prstDash val="solid"/>
          </a:ln>
        </p:spPr>
      </p:sp>
      <p:sp>
        <p:nvSpPr>
          <p:cNvPr id="21" name="Text 19"/>
          <p:cNvSpPr/>
          <p:nvPr/>
        </p:nvSpPr>
        <p:spPr>
          <a:xfrm>
            <a:off x="274320" y="3419856"/>
            <a:ext cx="13716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Citoyen 1</a:t>
            </a:r>
            <a:endParaRPr lang="en-US" sz="1200" dirty="0"/>
          </a:p>
        </p:txBody>
      </p:sp>
      <p:sp>
        <p:nvSpPr>
          <p:cNvPr id="22" name="Shape 20"/>
          <p:cNvSpPr/>
          <p:nvPr/>
        </p:nvSpPr>
        <p:spPr>
          <a:xfrm>
            <a:off x="1664208" y="3419856"/>
            <a:ext cx="4206240" cy="548640"/>
          </a:xfrm>
          <a:prstGeom prst="rect">
            <a:avLst/>
          </a:prstGeom>
          <a:solidFill>
            <a:srgbClr val="FFFFF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1737360" y="3419856"/>
            <a:ext cx="4059936" cy="548640"/>
          </a:xfrm>
          <a:prstGeom prst="rect">
            <a:avLst/>
          </a:prstGeom>
          <a:noFill/>
          <a:ln/>
        </p:spPr>
        <p:txBody>
          <a:bodyPr wrap="square" lIns="0" tIns="0" rIns="0" bIns="0" rtlCol="0" anchor="ctr"/>
          <a:lstStyle/>
          <a:p>
            <a:pPr indent="0" marL="0">
              <a:buNone/>
            </a:pPr>
            <a:r>
              <a:rPr lang="en-US" sz="1300" dirty="0">
                <a:solidFill>
                  <a:srgbClr val="1E3A5F"/>
                </a:solidFill>
                <a:latin typeface="Courier New" pitchFamily="34" charset="0"/>
                <a:ea typeface="Courier New" pitchFamily="34" charset="-122"/>
                <a:cs typeface="Courier New" pitchFamily="34" charset="-120"/>
              </a:rPr>
              <a:t>citoyen1@gmail.com</a:t>
            </a:r>
            <a:endParaRPr lang="en-US" sz="1300" dirty="0"/>
          </a:p>
        </p:txBody>
      </p:sp>
      <p:sp>
        <p:nvSpPr>
          <p:cNvPr id="24" name="Text 22"/>
          <p:cNvSpPr/>
          <p:nvPr/>
        </p:nvSpPr>
        <p:spPr>
          <a:xfrm>
            <a:off x="5897880" y="3419856"/>
            <a:ext cx="3017520" cy="548640"/>
          </a:xfrm>
          <a:prstGeom prst="rect">
            <a:avLst/>
          </a:prstGeom>
          <a:noFill/>
          <a:ln/>
        </p:spPr>
        <p:txBody>
          <a:bodyPr wrap="square" lIns="0" tIns="0" rIns="0" bIns="0" rtlCol="0" anchor="ctr"/>
          <a:lstStyle/>
          <a:p>
            <a:pPr indent="0" marL="0">
              <a:buNone/>
            </a:pPr>
            <a:r>
              <a:rPr lang="en-US" sz="1200" i="1" dirty="0">
                <a:solidFill>
                  <a:srgbClr val="6C8EAD"/>
                </a:solidFill>
                <a:latin typeface="Calibri" pitchFamily="34" charset="0"/>
                <a:ea typeface="Calibri" pitchFamily="34" charset="-122"/>
                <a:cs typeface="Calibri" pitchFamily="34" charset="-120"/>
              </a:rPr>
              <a:t>Tickets EC, PC, SA</a:t>
            </a:r>
            <a:endParaRPr lang="en-US" sz="1200" dirty="0"/>
          </a:p>
        </p:txBody>
      </p:sp>
      <p:sp>
        <p:nvSpPr>
          <p:cNvPr id="25" name="Shape 23"/>
          <p:cNvSpPr/>
          <p:nvPr/>
        </p:nvSpPr>
        <p:spPr>
          <a:xfrm>
            <a:off x="274320" y="4087368"/>
            <a:ext cx="1371600" cy="548640"/>
          </a:xfrm>
          <a:prstGeom prst="rect">
            <a:avLst/>
          </a:prstGeom>
          <a:solidFill>
            <a:srgbClr val="1E3A5F"/>
          </a:solidFill>
          <a:ln w="12700">
            <a:solidFill>
              <a:srgbClr val="1E3A5F"/>
            </a:solidFill>
            <a:prstDash val="solid"/>
          </a:ln>
        </p:spPr>
      </p:sp>
      <p:sp>
        <p:nvSpPr>
          <p:cNvPr id="26" name="Text 24"/>
          <p:cNvSpPr/>
          <p:nvPr/>
        </p:nvSpPr>
        <p:spPr>
          <a:xfrm>
            <a:off x="274320" y="4087368"/>
            <a:ext cx="13716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Citoyen 2</a:t>
            </a:r>
            <a:endParaRPr lang="en-US" sz="1200" dirty="0"/>
          </a:p>
        </p:txBody>
      </p:sp>
      <p:sp>
        <p:nvSpPr>
          <p:cNvPr id="27" name="Shape 25"/>
          <p:cNvSpPr/>
          <p:nvPr/>
        </p:nvSpPr>
        <p:spPr>
          <a:xfrm>
            <a:off x="1664208" y="4087368"/>
            <a:ext cx="4206240" cy="548640"/>
          </a:xfrm>
          <a:prstGeom prst="rect">
            <a:avLst/>
          </a:prstGeom>
          <a:solidFill>
            <a:srgbClr val="FFFFFF"/>
          </a:solidFill>
          <a:ln w="12700">
            <a:solidFill>
              <a:srgbClr val="1E3A5F"/>
            </a:solidFill>
            <a:prstDash val="solid"/>
          </a:ln>
          <a:effectLst>
            <a:outerShdw sx="100000" sy="100000" kx="0" ky="0" algn="bl" rotWithShape="0" blurRad="101600" dist="38100" dir="8100000">
              <a:srgbClr val="000000">
                <a:alpha val="18000"/>
              </a:srgbClr>
            </a:outerShdw>
          </a:effectLst>
        </p:spPr>
      </p:sp>
      <p:sp>
        <p:nvSpPr>
          <p:cNvPr id="28" name="Text 26"/>
          <p:cNvSpPr/>
          <p:nvPr/>
        </p:nvSpPr>
        <p:spPr>
          <a:xfrm>
            <a:off x="1737360" y="4087368"/>
            <a:ext cx="4059936" cy="548640"/>
          </a:xfrm>
          <a:prstGeom prst="rect">
            <a:avLst/>
          </a:prstGeom>
          <a:noFill/>
          <a:ln/>
        </p:spPr>
        <p:txBody>
          <a:bodyPr wrap="square" lIns="0" tIns="0" rIns="0" bIns="0" rtlCol="0" anchor="ctr"/>
          <a:lstStyle/>
          <a:p>
            <a:pPr indent="0" marL="0">
              <a:buNone/>
            </a:pPr>
            <a:r>
              <a:rPr lang="en-US" sz="1300" dirty="0">
                <a:solidFill>
                  <a:srgbClr val="1E3A5F"/>
                </a:solidFill>
                <a:latin typeface="Courier New" pitchFamily="34" charset="0"/>
                <a:ea typeface="Courier New" pitchFamily="34" charset="-122"/>
                <a:cs typeface="Courier New" pitchFamily="34" charset="-120"/>
              </a:rPr>
              <a:t>citoyen2@gmail.com</a:t>
            </a:r>
            <a:endParaRPr lang="en-US" sz="1300" dirty="0"/>
          </a:p>
        </p:txBody>
      </p:sp>
      <p:sp>
        <p:nvSpPr>
          <p:cNvPr id="29" name="Text 27"/>
          <p:cNvSpPr/>
          <p:nvPr/>
        </p:nvSpPr>
        <p:spPr>
          <a:xfrm>
            <a:off x="5897880" y="4087368"/>
            <a:ext cx="3017520" cy="548640"/>
          </a:xfrm>
          <a:prstGeom prst="rect">
            <a:avLst/>
          </a:prstGeom>
          <a:noFill/>
          <a:ln/>
        </p:spPr>
        <p:txBody>
          <a:bodyPr wrap="square" lIns="0" tIns="0" rIns="0" bIns="0" rtlCol="0" anchor="ctr"/>
          <a:lstStyle/>
          <a:p>
            <a:pPr indent="0" marL="0">
              <a:buNone/>
            </a:pPr>
            <a:r>
              <a:rPr lang="en-US" sz="1200" i="1" dirty="0">
                <a:solidFill>
                  <a:srgbClr val="6C8EAD"/>
                </a:solidFill>
                <a:latin typeface="Calibri" pitchFamily="34" charset="0"/>
                <a:ea typeface="Calibri" pitchFamily="34" charset="-122"/>
                <a:cs typeface="Calibri" pitchFamily="34" charset="-120"/>
              </a:rPr>
              <a:t>Tickets EC-002, SF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53D"/>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86AB"/>
          </a:solidFill>
          <a:ln w="12700">
            <a:solidFill>
              <a:srgbClr val="2E86AB"/>
            </a:solidFill>
            <a:prstDash val="solid"/>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 &amp; Bilan</a:t>
            </a:r>
            <a:endParaRPr lang="en-US" sz="3200" dirty="0"/>
          </a:p>
        </p:txBody>
      </p:sp>
      <p:sp>
        <p:nvSpPr>
          <p:cNvPr id="4" name="Shape 2"/>
          <p:cNvSpPr/>
          <p:nvPr/>
        </p:nvSpPr>
        <p:spPr>
          <a:xfrm>
            <a:off x="457200" y="1051560"/>
            <a:ext cx="292608" cy="292608"/>
          </a:xfrm>
          <a:prstGeom prst="rect">
            <a:avLst/>
          </a:prstGeom>
          <a:solidFill>
            <a:srgbClr val="2E86AB"/>
          </a:solidFill>
          <a:ln w="12700">
            <a:solidFill>
              <a:srgbClr val="2E86AB"/>
            </a:solidFill>
            <a:prstDash val="solid"/>
          </a:ln>
        </p:spPr>
      </p:sp>
      <p:sp>
        <p:nvSpPr>
          <p:cNvPr id="5" name="Text 3"/>
          <p:cNvSpPr/>
          <p:nvPr/>
        </p:nvSpPr>
        <p:spPr>
          <a:xfrm>
            <a:off x="457200" y="1051560"/>
            <a:ext cx="292608" cy="292608"/>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6" name="Text 4"/>
          <p:cNvSpPr/>
          <p:nvPr/>
        </p:nvSpPr>
        <p:spPr>
          <a:xfrm>
            <a:off x="822960" y="1024128"/>
            <a:ext cx="80467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Architecture MVC simple — 100% conforme aux contraintes du projet</a:t>
            </a:r>
            <a:endParaRPr lang="en-US" sz="1400" dirty="0"/>
          </a:p>
        </p:txBody>
      </p:sp>
      <p:sp>
        <p:nvSpPr>
          <p:cNvPr id="7" name="Shape 5"/>
          <p:cNvSpPr/>
          <p:nvPr/>
        </p:nvSpPr>
        <p:spPr>
          <a:xfrm>
            <a:off x="457200" y="1691640"/>
            <a:ext cx="292608" cy="292608"/>
          </a:xfrm>
          <a:prstGeom prst="rect">
            <a:avLst/>
          </a:prstGeom>
          <a:solidFill>
            <a:srgbClr val="2E86AB"/>
          </a:solidFill>
          <a:ln w="12700">
            <a:solidFill>
              <a:srgbClr val="2E86AB"/>
            </a:solidFill>
            <a:prstDash val="solid"/>
          </a:ln>
        </p:spPr>
      </p:sp>
      <p:sp>
        <p:nvSpPr>
          <p:cNvPr id="8" name="Text 6"/>
          <p:cNvSpPr/>
          <p:nvPr/>
        </p:nvSpPr>
        <p:spPr>
          <a:xfrm>
            <a:off x="457200" y="1691640"/>
            <a:ext cx="292608" cy="292608"/>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9" name="Text 7"/>
          <p:cNvSpPr/>
          <p:nvPr/>
        </p:nvSpPr>
        <p:spPr>
          <a:xfrm>
            <a:off x="822960" y="1664208"/>
            <a:ext cx="80467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6 tables MySQL, requêtes préparées PDO, sécurité renforcée</a:t>
            </a:r>
            <a:endParaRPr lang="en-US" sz="1400" dirty="0"/>
          </a:p>
        </p:txBody>
      </p:sp>
      <p:sp>
        <p:nvSpPr>
          <p:cNvPr id="10" name="Shape 8"/>
          <p:cNvSpPr/>
          <p:nvPr/>
        </p:nvSpPr>
        <p:spPr>
          <a:xfrm>
            <a:off x="457200" y="2331720"/>
            <a:ext cx="292608" cy="292608"/>
          </a:xfrm>
          <a:prstGeom prst="rect">
            <a:avLst/>
          </a:prstGeom>
          <a:solidFill>
            <a:srgbClr val="2E86AB"/>
          </a:solidFill>
          <a:ln w="12700">
            <a:solidFill>
              <a:srgbClr val="2E86AB"/>
            </a:solidFill>
            <a:prstDash val="solid"/>
          </a:ln>
        </p:spPr>
      </p:sp>
      <p:sp>
        <p:nvSpPr>
          <p:cNvPr id="11" name="Text 9"/>
          <p:cNvSpPr/>
          <p:nvPr/>
        </p:nvSpPr>
        <p:spPr>
          <a:xfrm>
            <a:off x="457200" y="2331720"/>
            <a:ext cx="292608" cy="292608"/>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12" name="Text 10"/>
          <p:cNvSpPr/>
          <p:nvPr/>
        </p:nvSpPr>
        <p:spPr>
          <a:xfrm>
            <a:off x="822960" y="2304288"/>
            <a:ext cx="80467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3 espaces utilisateurs distincts avec contrôle de rôle strict</a:t>
            </a:r>
            <a:endParaRPr lang="en-US" sz="1400" dirty="0"/>
          </a:p>
        </p:txBody>
      </p:sp>
      <p:sp>
        <p:nvSpPr>
          <p:cNvPr id="13" name="Shape 11"/>
          <p:cNvSpPr/>
          <p:nvPr/>
        </p:nvSpPr>
        <p:spPr>
          <a:xfrm>
            <a:off x="457200" y="2971800"/>
            <a:ext cx="292608" cy="292608"/>
          </a:xfrm>
          <a:prstGeom prst="rect">
            <a:avLst/>
          </a:prstGeom>
          <a:solidFill>
            <a:srgbClr val="2E86AB"/>
          </a:solidFill>
          <a:ln w="12700">
            <a:solidFill>
              <a:srgbClr val="2E86AB"/>
            </a:solidFill>
            <a:prstDash val="solid"/>
          </a:ln>
        </p:spPr>
      </p:sp>
      <p:sp>
        <p:nvSpPr>
          <p:cNvPr id="14" name="Text 12"/>
          <p:cNvSpPr/>
          <p:nvPr/>
        </p:nvSpPr>
        <p:spPr>
          <a:xfrm>
            <a:off x="457200" y="2971800"/>
            <a:ext cx="292608" cy="292608"/>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15" name="Text 13"/>
          <p:cNvSpPr/>
          <p:nvPr/>
        </p:nvSpPr>
        <p:spPr>
          <a:xfrm>
            <a:off x="822960" y="2944368"/>
            <a:ext cx="80467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15 fonctions JavaScript Bootstrap 5 documentées</a:t>
            </a:r>
            <a:endParaRPr lang="en-US" sz="1400" dirty="0"/>
          </a:p>
        </p:txBody>
      </p:sp>
      <p:sp>
        <p:nvSpPr>
          <p:cNvPr id="16" name="Shape 14"/>
          <p:cNvSpPr/>
          <p:nvPr/>
        </p:nvSpPr>
        <p:spPr>
          <a:xfrm>
            <a:off x="457200" y="3611880"/>
            <a:ext cx="292608" cy="292608"/>
          </a:xfrm>
          <a:prstGeom prst="rect">
            <a:avLst/>
          </a:prstGeom>
          <a:solidFill>
            <a:srgbClr val="2E86AB"/>
          </a:solidFill>
          <a:ln w="12700">
            <a:solidFill>
              <a:srgbClr val="2E86AB"/>
            </a:solidFill>
            <a:prstDash val="solid"/>
          </a:ln>
        </p:spPr>
      </p:sp>
      <p:sp>
        <p:nvSpPr>
          <p:cNvPr id="17" name="Text 15"/>
          <p:cNvSpPr/>
          <p:nvPr/>
        </p:nvSpPr>
        <p:spPr>
          <a:xfrm>
            <a:off x="457200" y="3611880"/>
            <a:ext cx="292608" cy="292608"/>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18" name="Text 16"/>
          <p:cNvSpPr/>
          <p:nvPr/>
        </p:nvSpPr>
        <p:spPr>
          <a:xfrm>
            <a:off x="822960" y="3584448"/>
            <a:ext cx="80467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Impact social ODD n°11 : réduction des déplacements inutiles</a:t>
            </a:r>
            <a:endParaRPr lang="en-US" sz="1400" dirty="0"/>
          </a:p>
        </p:txBody>
      </p:sp>
      <p:sp>
        <p:nvSpPr>
          <p:cNvPr id="19" name="Shape 17"/>
          <p:cNvSpPr/>
          <p:nvPr/>
        </p:nvSpPr>
        <p:spPr>
          <a:xfrm>
            <a:off x="457200" y="4251960"/>
            <a:ext cx="292608" cy="292608"/>
          </a:xfrm>
          <a:prstGeom prst="rect">
            <a:avLst/>
          </a:prstGeom>
          <a:solidFill>
            <a:srgbClr val="2E86AB"/>
          </a:solidFill>
          <a:ln w="12700">
            <a:solidFill>
              <a:srgbClr val="2E86AB"/>
            </a:solidFill>
            <a:prstDash val="solid"/>
          </a:ln>
        </p:spPr>
      </p:sp>
      <p:sp>
        <p:nvSpPr>
          <p:cNvPr id="20" name="Text 18"/>
          <p:cNvSpPr/>
          <p:nvPr/>
        </p:nvSpPr>
        <p:spPr>
          <a:xfrm>
            <a:off x="457200" y="4251960"/>
            <a:ext cx="292608" cy="292608"/>
          </a:xfrm>
          <a:prstGeom prst="rect">
            <a:avLst/>
          </a:prstGeom>
          <a:noFill/>
          <a:ln/>
        </p:spPr>
        <p:txBody>
          <a:bodyPr wrap="square" lIns="0" tIns="0" rIns="0" bIns="0" rtlCol="0" anchor="ctr"/>
          <a:lstStyle/>
          <a:p>
            <a:pPr algn="ctr" indent="0" marL="0">
              <a:buNone/>
            </a:pPr>
            <a:r>
              <a:rPr lang="en-US" sz="1200" dirty="0">
                <a:solidFill>
                  <a:srgbClr val="FFFFFF"/>
                </a:solidFill>
              </a:rPr>
              <a:t>✓</a:t>
            </a:r>
            <a:endParaRPr lang="en-US" sz="1200" dirty="0"/>
          </a:p>
        </p:txBody>
      </p:sp>
      <p:sp>
        <p:nvSpPr>
          <p:cNvPr id="21" name="Text 19"/>
          <p:cNvSpPr/>
          <p:nvPr/>
        </p:nvSpPr>
        <p:spPr>
          <a:xfrm>
            <a:off x="822960" y="4224528"/>
            <a:ext cx="80467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Interface responsive, accessible, testée sur mobile et desktop</a:t>
            </a:r>
            <a:endParaRPr lang="en-US" sz="1400" dirty="0"/>
          </a:p>
        </p:txBody>
      </p:sp>
      <p:sp>
        <p:nvSpPr>
          <p:cNvPr id="22" name="Shape 20"/>
          <p:cNvSpPr/>
          <p:nvPr/>
        </p:nvSpPr>
        <p:spPr>
          <a:xfrm>
            <a:off x="457200" y="4572000"/>
            <a:ext cx="8229600" cy="384048"/>
          </a:xfrm>
          <a:prstGeom prst="rect">
            <a:avLst/>
          </a:prstGeom>
          <a:solidFill>
            <a:srgbClr val="2E86AB">
              <a:alpha val="80000"/>
            </a:srgbClr>
          </a:solidFill>
          <a:ln w="12700">
            <a:solidFill>
              <a:srgbClr val="2E86AB"/>
            </a:solidFill>
            <a:prstDash val="solid"/>
          </a:ln>
        </p:spPr>
      </p:sp>
      <p:sp>
        <p:nvSpPr>
          <p:cNvPr id="23" name="Text 21"/>
          <p:cNvSpPr/>
          <p:nvPr/>
        </p:nvSpPr>
        <p:spPr>
          <a:xfrm>
            <a:off x="457200" y="4572000"/>
            <a:ext cx="82296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Merci pour votre attention — Questions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SmartQueue – Présentation Projet</dc:title>
  <dc:subject>PptxGenJS Presentation</dc:subject>
  <dc:creator>Projet Intégré 2BIS – ESEN Manouba</dc:creator>
  <cp:lastModifiedBy>Projet Intégré 2BIS – ESEN Manouba</cp:lastModifiedBy>
  <cp:revision>1</cp:revision>
  <dcterms:created xsi:type="dcterms:W3CDTF">2026-04-25T19:02:10Z</dcterms:created>
  <dcterms:modified xsi:type="dcterms:W3CDTF">2026-04-25T19:02:10Z</dcterms:modified>
</cp:coreProperties>
</file>